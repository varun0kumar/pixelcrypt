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x="18288000" cy="10287000"/>
  <p:notesSz cx="6858000" cy="9144000"/>
  <p:embeddedFontLst>
    <p:embeddedFont>
      <p:font typeface="TT Interphases Bold" charset="1" panose="02000803060000020004"/>
      <p:regular r:id="rId27"/>
    </p:embeddedFont>
    <p:embeddedFont>
      <p:font typeface="Inter" charset="1" panose="020B0502030000000004"/>
      <p:regular r:id="rId28"/>
    </p:embeddedFont>
    <p:embeddedFont>
      <p:font typeface="Ubuntu Bold" charset="1" panose="020B0804030602030204"/>
      <p:regular r:id="rId29"/>
    </p:embeddedFont>
    <p:embeddedFont>
      <p:font typeface="Ubuntu" charset="1" panose="020B0504030602030204"/>
      <p:regular r:id="rId30"/>
    </p:embeddedFont>
    <p:embeddedFont>
      <p:font typeface="Inter Bold" charset="1" panose="020B0802030000000004"/>
      <p:regular r:id="rId31"/>
    </p:embeddedFont>
    <p:embeddedFont>
      <p:font typeface="League Spartan" charset="1" panose="00000800000000000000"/>
      <p:regular r:id="rId32"/>
    </p:embeddedFont>
    <p:embeddedFont>
      <p:font typeface="TT Interphases" charset="1" panose="02000503020000020004"/>
      <p:regular r:id="rId3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33" Target="fonts/font33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07386" y="633212"/>
            <a:ext cx="17299805" cy="9138736"/>
            <a:chOff x="0" y="0"/>
            <a:chExt cx="768880" cy="40616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68880" cy="406166"/>
            </a:xfrm>
            <a:custGeom>
              <a:avLst/>
              <a:gdLst/>
              <a:ahLst/>
              <a:cxnLst/>
              <a:rect r="r" b="b" t="t" l="l"/>
              <a:pathLst>
                <a:path h="406166" w="768880">
                  <a:moveTo>
                    <a:pt x="44751" y="0"/>
                  </a:moveTo>
                  <a:lnTo>
                    <a:pt x="724129" y="0"/>
                  </a:lnTo>
                  <a:cubicBezTo>
                    <a:pt x="735998" y="0"/>
                    <a:pt x="747380" y="4715"/>
                    <a:pt x="755773" y="13107"/>
                  </a:cubicBezTo>
                  <a:cubicBezTo>
                    <a:pt x="764165" y="21500"/>
                    <a:pt x="768880" y="32883"/>
                    <a:pt x="768880" y="44751"/>
                  </a:cubicBezTo>
                  <a:lnTo>
                    <a:pt x="768880" y="361415"/>
                  </a:lnTo>
                  <a:cubicBezTo>
                    <a:pt x="768880" y="386130"/>
                    <a:pt x="748844" y="406166"/>
                    <a:pt x="724129" y="406166"/>
                  </a:cubicBezTo>
                  <a:lnTo>
                    <a:pt x="44751" y="406166"/>
                  </a:lnTo>
                  <a:cubicBezTo>
                    <a:pt x="32883" y="406166"/>
                    <a:pt x="21500" y="401451"/>
                    <a:pt x="13107" y="393059"/>
                  </a:cubicBezTo>
                  <a:cubicBezTo>
                    <a:pt x="4715" y="384666"/>
                    <a:pt x="0" y="373283"/>
                    <a:pt x="0" y="361415"/>
                  </a:cubicBezTo>
                  <a:lnTo>
                    <a:pt x="0" y="44751"/>
                  </a:lnTo>
                  <a:cubicBezTo>
                    <a:pt x="0" y="32883"/>
                    <a:pt x="4715" y="21500"/>
                    <a:pt x="13107" y="13107"/>
                  </a:cubicBezTo>
                  <a:cubicBezTo>
                    <a:pt x="21500" y="4715"/>
                    <a:pt x="32883" y="0"/>
                    <a:pt x="44751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768880" cy="4442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7057580"/>
            <a:ext cx="16230600" cy="2200720"/>
            <a:chOff x="0" y="0"/>
            <a:chExt cx="721360" cy="9781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21360" cy="97810"/>
            </a:xfrm>
            <a:custGeom>
              <a:avLst/>
              <a:gdLst/>
              <a:ahLst/>
              <a:cxnLst/>
              <a:rect r="r" b="b" t="t" l="l"/>
              <a:pathLst>
                <a:path h="97810" w="721360">
                  <a:moveTo>
                    <a:pt x="47700" y="0"/>
                  </a:moveTo>
                  <a:lnTo>
                    <a:pt x="673660" y="0"/>
                  </a:lnTo>
                  <a:cubicBezTo>
                    <a:pt x="686311" y="0"/>
                    <a:pt x="698444" y="5025"/>
                    <a:pt x="707389" y="13971"/>
                  </a:cubicBezTo>
                  <a:cubicBezTo>
                    <a:pt x="716335" y="22916"/>
                    <a:pt x="721360" y="35049"/>
                    <a:pt x="721360" y="47700"/>
                  </a:cubicBezTo>
                  <a:lnTo>
                    <a:pt x="721360" y="50110"/>
                  </a:lnTo>
                  <a:cubicBezTo>
                    <a:pt x="721360" y="62761"/>
                    <a:pt x="716335" y="74893"/>
                    <a:pt x="707389" y="83839"/>
                  </a:cubicBezTo>
                  <a:cubicBezTo>
                    <a:pt x="698444" y="92784"/>
                    <a:pt x="686311" y="97810"/>
                    <a:pt x="673660" y="97810"/>
                  </a:cubicBezTo>
                  <a:lnTo>
                    <a:pt x="47700" y="97810"/>
                  </a:lnTo>
                  <a:cubicBezTo>
                    <a:pt x="35049" y="97810"/>
                    <a:pt x="22916" y="92784"/>
                    <a:pt x="13971" y="83839"/>
                  </a:cubicBezTo>
                  <a:cubicBezTo>
                    <a:pt x="5025" y="74893"/>
                    <a:pt x="0" y="62761"/>
                    <a:pt x="0" y="50110"/>
                  </a:cubicBezTo>
                  <a:lnTo>
                    <a:pt x="0" y="47700"/>
                  </a:lnTo>
                  <a:cubicBezTo>
                    <a:pt x="0" y="35049"/>
                    <a:pt x="5025" y="22916"/>
                    <a:pt x="13971" y="13971"/>
                  </a:cubicBezTo>
                  <a:cubicBezTo>
                    <a:pt x="22916" y="5025"/>
                    <a:pt x="35049" y="0"/>
                    <a:pt x="477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721360" cy="1359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0341727" y="1999543"/>
            <a:ext cx="6917573" cy="4254960"/>
          </a:xfrm>
          <a:custGeom>
            <a:avLst/>
            <a:gdLst/>
            <a:ahLst/>
            <a:cxnLst/>
            <a:rect r="r" b="b" t="t" l="l"/>
            <a:pathLst>
              <a:path h="4254960" w="6917573">
                <a:moveTo>
                  <a:pt x="0" y="0"/>
                </a:moveTo>
                <a:lnTo>
                  <a:pt x="6917573" y="0"/>
                </a:lnTo>
                <a:lnTo>
                  <a:pt x="6917573" y="4254959"/>
                </a:lnTo>
                <a:lnTo>
                  <a:pt x="0" y="425495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6159" t="-55756" r="-15740" b="-58682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849818" y="3024668"/>
            <a:ext cx="9491909" cy="13721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809"/>
              </a:lnSpc>
            </a:pPr>
            <a:r>
              <a:rPr lang="en-US" b="true" sz="11678">
                <a:solidFill>
                  <a:srgbClr val="FFFF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PIXELCRYPT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516593" y="4652644"/>
            <a:ext cx="6387293" cy="490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Securing Data by Making It Invisible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526158" y="7631525"/>
            <a:ext cx="6387293" cy="986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By Varun Kumar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USN : 1BI24MC157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0"/>
            <a:ext cx="16230600" cy="10287000"/>
            <a:chOff x="0" y="0"/>
            <a:chExt cx="721360" cy="457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21360" cy="457200"/>
            </a:xfrm>
            <a:custGeom>
              <a:avLst/>
              <a:gdLst/>
              <a:ahLst/>
              <a:cxnLst/>
              <a:rect r="r" b="b" t="t" l="l"/>
              <a:pathLst>
                <a:path h="457200" w="721360">
                  <a:moveTo>
                    <a:pt x="47700" y="0"/>
                  </a:moveTo>
                  <a:lnTo>
                    <a:pt x="673660" y="0"/>
                  </a:lnTo>
                  <a:cubicBezTo>
                    <a:pt x="686311" y="0"/>
                    <a:pt x="698444" y="5025"/>
                    <a:pt x="707389" y="13971"/>
                  </a:cubicBezTo>
                  <a:cubicBezTo>
                    <a:pt x="716335" y="22916"/>
                    <a:pt x="721360" y="35049"/>
                    <a:pt x="721360" y="47700"/>
                  </a:cubicBezTo>
                  <a:lnTo>
                    <a:pt x="721360" y="409500"/>
                  </a:lnTo>
                  <a:cubicBezTo>
                    <a:pt x="721360" y="422151"/>
                    <a:pt x="716335" y="434284"/>
                    <a:pt x="707389" y="443229"/>
                  </a:cubicBezTo>
                  <a:cubicBezTo>
                    <a:pt x="698444" y="452175"/>
                    <a:pt x="686311" y="457200"/>
                    <a:pt x="673660" y="457200"/>
                  </a:cubicBezTo>
                  <a:lnTo>
                    <a:pt x="47700" y="457200"/>
                  </a:lnTo>
                  <a:cubicBezTo>
                    <a:pt x="35049" y="457200"/>
                    <a:pt x="22916" y="452175"/>
                    <a:pt x="13971" y="443229"/>
                  </a:cubicBezTo>
                  <a:cubicBezTo>
                    <a:pt x="5025" y="434284"/>
                    <a:pt x="0" y="422151"/>
                    <a:pt x="0" y="409500"/>
                  </a:cubicBezTo>
                  <a:lnTo>
                    <a:pt x="0" y="47700"/>
                  </a:lnTo>
                  <a:cubicBezTo>
                    <a:pt x="0" y="35049"/>
                    <a:pt x="5025" y="22916"/>
                    <a:pt x="13971" y="13971"/>
                  </a:cubicBezTo>
                  <a:cubicBezTo>
                    <a:pt x="22916" y="5025"/>
                    <a:pt x="35049" y="0"/>
                    <a:pt x="477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721360" cy="495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496930" y="1028700"/>
            <a:ext cx="7304734" cy="8229600"/>
            <a:chOff x="0" y="0"/>
            <a:chExt cx="324655" cy="3657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24655" cy="365760"/>
            </a:xfrm>
            <a:custGeom>
              <a:avLst/>
              <a:gdLst/>
              <a:ahLst/>
              <a:cxnLst/>
              <a:rect r="r" b="b" t="t" l="l"/>
              <a:pathLst>
                <a:path h="365760" w="324655">
                  <a:moveTo>
                    <a:pt x="105985" y="0"/>
                  </a:moveTo>
                  <a:lnTo>
                    <a:pt x="218670" y="0"/>
                  </a:lnTo>
                  <a:cubicBezTo>
                    <a:pt x="246779" y="0"/>
                    <a:pt x="273737" y="11166"/>
                    <a:pt x="293613" y="31042"/>
                  </a:cubicBezTo>
                  <a:cubicBezTo>
                    <a:pt x="313489" y="50918"/>
                    <a:pt x="324655" y="77876"/>
                    <a:pt x="324655" y="105985"/>
                  </a:cubicBezTo>
                  <a:lnTo>
                    <a:pt x="324655" y="259775"/>
                  </a:lnTo>
                  <a:cubicBezTo>
                    <a:pt x="324655" y="287884"/>
                    <a:pt x="313489" y="314842"/>
                    <a:pt x="293613" y="334718"/>
                  </a:cubicBezTo>
                  <a:cubicBezTo>
                    <a:pt x="273737" y="354594"/>
                    <a:pt x="246779" y="365760"/>
                    <a:pt x="218670" y="365760"/>
                  </a:cubicBezTo>
                  <a:lnTo>
                    <a:pt x="105985" y="365760"/>
                  </a:lnTo>
                  <a:cubicBezTo>
                    <a:pt x="47451" y="365760"/>
                    <a:pt x="0" y="318309"/>
                    <a:pt x="0" y="259775"/>
                  </a:cubicBezTo>
                  <a:lnTo>
                    <a:pt x="0" y="105985"/>
                  </a:lnTo>
                  <a:cubicBezTo>
                    <a:pt x="0" y="77876"/>
                    <a:pt x="11166" y="50918"/>
                    <a:pt x="31042" y="31042"/>
                  </a:cubicBezTo>
                  <a:cubicBezTo>
                    <a:pt x="50918" y="11166"/>
                    <a:pt x="77876" y="0"/>
                    <a:pt x="105985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324655" cy="4038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605191" y="1266825"/>
            <a:ext cx="7538809" cy="22467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4"/>
              </a:lnSpc>
            </a:pPr>
            <a:r>
              <a:rPr lang="en-US" sz="6850" b="true">
                <a:solidFill>
                  <a:srgbClr val="FFFF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WHY STANDARD ENCRYPTION ISN'T ENOUGH.?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25870" y="4003675"/>
            <a:ext cx="7918130" cy="4125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55991" indent="-277995" lvl="1">
              <a:lnSpc>
                <a:spcPts val="3605"/>
              </a:lnSpc>
              <a:buFont typeface="Arial"/>
              <a:buChar char="•"/>
            </a:pPr>
            <a:r>
              <a:rPr lang="en-US" b="true" sz="2575">
                <a:solidFill>
                  <a:srgbClr val="FFFFFF"/>
                </a:solidFill>
                <a:latin typeface="Ubuntu Bold"/>
                <a:ea typeface="Ubuntu Bold"/>
                <a:cs typeface="Ubuntu Bold"/>
                <a:sym typeface="Ubuntu Bold"/>
              </a:rPr>
              <a:t>When you encrypt a file, you're essentially putting it in a digital vault. While the content is secure, the vault itself is obvious. An encrypted file screams, "I contain valuable, secret information!".</a:t>
            </a:r>
          </a:p>
          <a:p>
            <a:pPr algn="l" marL="555991" indent="-277995" lvl="1">
              <a:lnSpc>
                <a:spcPts val="3605"/>
              </a:lnSpc>
              <a:buFont typeface="Arial"/>
              <a:buChar char="•"/>
            </a:pPr>
            <a:r>
              <a:rPr lang="en-US" b="true" sz="2575">
                <a:solidFill>
                  <a:srgbClr val="FFFFFF"/>
                </a:solidFill>
                <a:latin typeface="Ubuntu Bold"/>
                <a:ea typeface="Ubuntu Bold"/>
                <a:cs typeface="Ubuntu Bold"/>
                <a:sym typeface="Ubuntu Bold"/>
              </a:rPr>
              <a:t>This attracts unwanted attention from anyone monitoring your communications. The encrypted file itself becomes a target for analysis, theft, or demands for decryption.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9966024" y="2227622"/>
            <a:ext cx="6366545" cy="5831755"/>
          </a:xfrm>
          <a:custGeom>
            <a:avLst/>
            <a:gdLst/>
            <a:ahLst/>
            <a:cxnLst/>
            <a:rect r="r" b="b" t="t" l="l"/>
            <a:pathLst>
              <a:path h="5831755" w="6366545">
                <a:moveTo>
                  <a:pt x="0" y="0"/>
                </a:moveTo>
                <a:lnTo>
                  <a:pt x="6366545" y="0"/>
                </a:lnTo>
                <a:lnTo>
                  <a:pt x="6366545" y="5831756"/>
                </a:lnTo>
                <a:lnTo>
                  <a:pt x="0" y="58317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12526" y="0"/>
            <a:ext cx="16889206" cy="10287000"/>
            <a:chOff x="0" y="0"/>
            <a:chExt cx="750631" cy="457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50631" cy="457200"/>
            </a:xfrm>
            <a:custGeom>
              <a:avLst/>
              <a:gdLst/>
              <a:ahLst/>
              <a:cxnLst/>
              <a:rect r="r" b="b" t="t" l="l"/>
              <a:pathLst>
                <a:path h="457200" w="750631">
                  <a:moveTo>
                    <a:pt x="45839" y="0"/>
                  </a:moveTo>
                  <a:lnTo>
                    <a:pt x="704792" y="0"/>
                  </a:lnTo>
                  <a:cubicBezTo>
                    <a:pt x="716949" y="0"/>
                    <a:pt x="728609" y="4830"/>
                    <a:pt x="737205" y="13426"/>
                  </a:cubicBezTo>
                  <a:cubicBezTo>
                    <a:pt x="745802" y="22023"/>
                    <a:pt x="750631" y="33682"/>
                    <a:pt x="750631" y="45839"/>
                  </a:cubicBezTo>
                  <a:lnTo>
                    <a:pt x="750631" y="411361"/>
                  </a:lnTo>
                  <a:cubicBezTo>
                    <a:pt x="750631" y="423518"/>
                    <a:pt x="745802" y="435177"/>
                    <a:pt x="737205" y="443774"/>
                  </a:cubicBezTo>
                  <a:cubicBezTo>
                    <a:pt x="728609" y="452370"/>
                    <a:pt x="716949" y="457200"/>
                    <a:pt x="704792" y="457200"/>
                  </a:cubicBezTo>
                  <a:lnTo>
                    <a:pt x="45839" y="457200"/>
                  </a:lnTo>
                  <a:cubicBezTo>
                    <a:pt x="33682" y="457200"/>
                    <a:pt x="22023" y="452370"/>
                    <a:pt x="13426" y="443774"/>
                  </a:cubicBezTo>
                  <a:cubicBezTo>
                    <a:pt x="4830" y="435177"/>
                    <a:pt x="0" y="423518"/>
                    <a:pt x="0" y="411361"/>
                  </a:cubicBezTo>
                  <a:lnTo>
                    <a:pt x="0" y="45839"/>
                  </a:lnTo>
                  <a:cubicBezTo>
                    <a:pt x="0" y="33682"/>
                    <a:pt x="4830" y="22023"/>
                    <a:pt x="13426" y="13426"/>
                  </a:cubicBezTo>
                  <a:cubicBezTo>
                    <a:pt x="22023" y="4830"/>
                    <a:pt x="33682" y="0"/>
                    <a:pt x="4583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750631" cy="495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712526" y="1541758"/>
            <a:ext cx="7586667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b="true" sz="5000" u="sng">
                <a:solidFill>
                  <a:srgbClr val="FFFF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LITERATURE SURVEY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90789" y="2775585"/>
            <a:ext cx="15061094" cy="46501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19"/>
              </a:lnSpc>
              <a:spcBef>
                <a:spcPct val="0"/>
              </a:spcBef>
            </a:pPr>
            <a:r>
              <a:rPr lang="en-US" sz="3299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rPr>
              <a:t>Current steganography tools force users to choose between powerful but complex command-line utilities and convenient online tools that compromise privacy. This effectively locks secure data hiding away from everyday users, leaving a need for a tool that is both safe and simple. PixelCrypt bridges this divide by integrating strong AES encryption with clever LSB (Least Significant Bit) data hiding into an intuitive interface. It is a modern, offline application that finally makes truly secure and covert communication accessible to everyone.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09593" y="0"/>
            <a:ext cx="17600327" cy="10287000"/>
            <a:chOff x="0" y="0"/>
            <a:chExt cx="782237" cy="457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82237" cy="457200"/>
            </a:xfrm>
            <a:custGeom>
              <a:avLst/>
              <a:gdLst/>
              <a:ahLst/>
              <a:cxnLst/>
              <a:rect r="r" b="b" t="t" l="l"/>
              <a:pathLst>
                <a:path h="457200" w="782237">
                  <a:moveTo>
                    <a:pt x="43987" y="0"/>
                  </a:moveTo>
                  <a:lnTo>
                    <a:pt x="738249" y="0"/>
                  </a:lnTo>
                  <a:cubicBezTo>
                    <a:pt x="762543" y="0"/>
                    <a:pt x="782237" y="19694"/>
                    <a:pt x="782237" y="43987"/>
                  </a:cubicBezTo>
                  <a:lnTo>
                    <a:pt x="782237" y="413213"/>
                  </a:lnTo>
                  <a:cubicBezTo>
                    <a:pt x="782237" y="437506"/>
                    <a:pt x="762543" y="457200"/>
                    <a:pt x="738249" y="457200"/>
                  </a:cubicBezTo>
                  <a:lnTo>
                    <a:pt x="43987" y="457200"/>
                  </a:lnTo>
                  <a:cubicBezTo>
                    <a:pt x="19694" y="457200"/>
                    <a:pt x="0" y="437506"/>
                    <a:pt x="0" y="413213"/>
                  </a:cubicBezTo>
                  <a:lnTo>
                    <a:pt x="0" y="43987"/>
                  </a:lnTo>
                  <a:cubicBezTo>
                    <a:pt x="0" y="19694"/>
                    <a:pt x="19694" y="0"/>
                    <a:pt x="43987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782237" cy="495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2608311"/>
            <a:ext cx="16230600" cy="5713893"/>
            <a:chOff x="0" y="0"/>
            <a:chExt cx="721360" cy="25395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21360" cy="253951"/>
            </a:xfrm>
            <a:custGeom>
              <a:avLst/>
              <a:gdLst/>
              <a:ahLst/>
              <a:cxnLst/>
              <a:rect r="r" b="b" t="t" l="l"/>
              <a:pathLst>
                <a:path h="253951" w="721360">
                  <a:moveTo>
                    <a:pt x="47700" y="0"/>
                  </a:moveTo>
                  <a:lnTo>
                    <a:pt x="673660" y="0"/>
                  </a:lnTo>
                  <a:cubicBezTo>
                    <a:pt x="686311" y="0"/>
                    <a:pt x="698444" y="5025"/>
                    <a:pt x="707389" y="13971"/>
                  </a:cubicBezTo>
                  <a:cubicBezTo>
                    <a:pt x="716335" y="22916"/>
                    <a:pt x="721360" y="35049"/>
                    <a:pt x="721360" y="47700"/>
                  </a:cubicBezTo>
                  <a:lnTo>
                    <a:pt x="721360" y="206251"/>
                  </a:lnTo>
                  <a:cubicBezTo>
                    <a:pt x="721360" y="218902"/>
                    <a:pt x="716335" y="231035"/>
                    <a:pt x="707389" y="239980"/>
                  </a:cubicBezTo>
                  <a:cubicBezTo>
                    <a:pt x="698444" y="248925"/>
                    <a:pt x="686311" y="253951"/>
                    <a:pt x="673660" y="253951"/>
                  </a:cubicBezTo>
                  <a:lnTo>
                    <a:pt x="47700" y="253951"/>
                  </a:lnTo>
                  <a:cubicBezTo>
                    <a:pt x="35049" y="253951"/>
                    <a:pt x="22916" y="248925"/>
                    <a:pt x="13971" y="239980"/>
                  </a:cubicBezTo>
                  <a:cubicBezTo>
                    <a:pt x="5025" y="231035"/>
                    <a:pt x="0" y="218902"/>
                    <a:pt x="0" y="206251"/>
                  </a:cubicBezTo>
                  <a:lnTo>
                    <a:pt x="0" y="47700"/>
                  </a:lnTo>
                  <a:cubicBezTo>
                    <a:pt x="0" y="35049"/>
                    <a:pt x="5025" y="22916"/>
                    <a:pt x="13971" y="13971"/>
                  </a:cubicBezTo>
                  <a:cubicBezTo>
                    <a:pt x="22916" y="5025"/>
                    <a:pt x="35049" y="0"/>
                    <a:pt x="477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721360" cy="2920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983202" y="767928"/>
            <a:ext cx="13957018" cy="1522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54"/>
              </a:lnSpc>
            </a:pPr>
            <a:r>
              <a:rPr lang="en-US" b="true" sz="6850">
                <a:solidFill>
                  <a:srgbClr val="FFFF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COMBINING CRYPTOGRAPHY &amp; STEGANOGRAPHY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88172" y="4150732"/>
            <a:ext cx="15045259" cy="3600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31167" indent="-365584" lvl="1">
              <a:lnSpc>
                <a:spcPts val="4741"/>
              </a:lnSpc>
              <a:buAutoNum type="arabicPeriod" startAt="1"/>
            </a:pPr>
            <a:r>
              <a:rPr lang="en-US" b="true" sz="3386">
                <a:solidFill>
                  <a:srgbClr val="FFFFFF"/>
                </a:solidFill>
                <a:latin typeface="Ubuntu Bold"/>
                <a:ea typeface="Ubuntu Bold"/>
                <a:cs typeface="Ubuntu Bold"/>
                <a:sym typeface="Ubuntu Bold"/>
              </a:rPr>
              <a:t>Cryptography (The</a:t>
            </a:r>
            <a:r>
              <a:rPr lang="en-US" b="true" sz="3386">
                <a:solidFill>
                  <a:srgbClr val="FFFFFF"/>
                </a:solidFill>
                <a:latin typeface="Ubuntu Bold"/>
                <a:ea typeface="Ubuntu Bold"/>
                <a:cs typeface="Ubuntu Bold"/>
                <a:sym typeface="Ubuntu Bold"/>
              </a:rPr>
              <a:t> Lock): We first scramble your secret message using a powerful encryption algorithm (AES). This makes the data unreadable without the password.</a:t>
            </a:r>
          </a:p>
          <a:p>
            <a:pPr algn="just" marL="731167" indent="-365584" lvl="1">
              <a:lnSpc>
                <a:spcPts val="4741"/>
              </a:lnSpc>
              <a:buAutoNum type="arabicPeriod" startAt="1"/>
            </a:pPr>
            <a:r>
              <a:rPr lang="en-US" b="true" sz="3386">
                <a:solidFill>
                  <a:srgbClr val="FFFFFF"/>
                </a:solidFill>
                <a:latin typeface="Ubuntu Bold"/>
                <a:ea typeface="Ubuntu Bold"/>
                <a:cs typeface="Ubuntu Bold"/>
                <a:sym typeface="Ubuntu Bold"/>
              </a:rPr>
              <a:t>Steganography (The Camouflage): Then, we take that scrambled message and hide it inside a normal, everyday file—like an image, video, or audio track. This is the art of data hiding.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983202" y="3092967"/>
            <a:ext cx="14059377" cy="530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39"/>
              </a:lnSpc>
              <a:spcBef>
                <a:spcPct val="0"/>
              </a:spcBef>
            </a:pPr>
            <a:r>
              <a:rPr lang="en-US" b="true" sz="3099" u="sng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Our Solution : PixelCrypt uses a two-layer approach for ultimate security.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028700" y="8636530"/>
            <a:ext cx="16230600" cy="1248978"/>
            <a:chOff x="0" y="0"/>
            <a:chExt cx="721360" cy="5551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21360" cy="55510"/>
            </a:xfrm>
            <a:custGeom>
              <a:avLst/>
              <a:gdLst/>
              <a:ahLst/>
              <a:cxnLst/>
              <a:rect r="r" b="b" t="t" l="l"/>
              <a:pathLst>
                <a:path h="55510" w="721360">
                  <a:moveTo>
                    <a:pt x="27755" y="0"/>
                  </a:moveTo>
                  <a:lnTo>
                    <a:pt x="693605" y="0"/>
                  </a:lnTo>
                  <a:cubicBezTo>
                    <a:pt x="700966" y="0"/>
                    <a:pt x="708026" y="2924"/>
                    <a:pt x="713231" y="8129"/>
                  </a:cubicBezTo>
                  <a:cubicBezTo>
                    <a:pt x="718436" y="13334"/>
                    <a:pt x="721360" y="20394"/>
                    <a:pt x="721360" y="27755"/>
                  </a:cubicBezTo>
                  <a:lnTo>
                    <a:pt x="721360" y="27755"/>
                  </a:lnTo>
                  <a:cubicBezTo>
                    <a:pt x="721360" y="35116"/>
                    <a:pt x="718436" y="42176"/>
                    <a:pt x="713231" y="47381"/>
                  </a:cubicBezTo>
                  <a:cubicBezTo>
                    <a:pt x="708026" y="52586"/>
                    <a:pt x="700966" y="55510"/>
                    <a:pt x="693605" y="55510"/>
                  </a:cubicBezTo>
                  <a:lnTo>
                    <a:pt x="27755" y="55510"/>
                  </a:lnTo>
                  <a:cubicBezTo>
                    <a:pt x="20394" y="55510"/>
                    <a:pt x="13334" y="52586"/>
                    <a:pt x="8129" y="47381"/>
                  </a:cubicBezTo>
                  <a:cubicBezTo>
                    <a:pt x="2924" y="42176"/>
                    <a:pt x="0" y="35116"/>
                    <a:pt x="0" y="27755"/>
                  </a:cubicBezTo>
                  <a:lnTo>
                    <a:pt x="0" y="27755"/>
                  </a:lnTo>
                  <a:cubicBezTo>
                    <a:pt x="0" y="20394"/>
                    <a:pt x="2924" y="13334"/>
                    <a:pt x="8129" y="8129"/>
                  </a:cubicBezTo>
                  <a:cubicBezTo>
                    <a:pt x="13334" y="2924"/>
                    <a:pt x="20394" y="0"/>
                    <a:pt x="27755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721360" cy="936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2866159" y="8953996"/>
            <a:ext cx="12555681" cy="547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9"/>
              </a:lnSpc>
              <a:spcBef>
                <a:spcPct val="0"/>
              </a:spcBef>
            </a:pPr>
            <a:r>
              <a:rPr lang="en-US" b="true" sz="3199" u="sng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To an outsider, there is no secret. There is only a regular file.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03213" y="0"/>
            <a:ext cx="17447330" cy="10287000"/>
            <a:chOff x="0" y="0"/>
            <a:chExt cx="775437" cy="457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75437" cy="457200"/>
            </a:xfrm>
            <a:custGeom>
              <a:avLst/>
              <a:gdLst/>
              <a:ahLst/>
              <a:cxnLst/>
              <a:rect r="r" b="b" t="t" l="l"/>
              <a:pathLst>
                <a:path h="457200" w="775437">
                  <a:moveTo>
                    <a:pt x="44373" y="0"/>
                  </a:moveTo>
                  <a:lnTo>
                    <a:pt x="731064" y="0"/>
                  </a:lnTo>
                  <a:cubicBezTo>
                    <a:pt x="742832" y="0"/>
                    <a:pt x="754119" y="4675"/>
                    <a:pt x="762440" y="12997"/>
                  </a:cubicBezTo>
                  <a:cubicBezTo>
                    <a:pt x="770762" y="21318"/>
                    <a:pt x="775437" y="32605"/>
                    <a:pt x="775437" y="44373"/>
                  </a:cubicBezTo>
                  <a:lnTo>
                    <a:pt x="775437" y="412827"/>
                  </a:lnTo>
                  <a:cubicBezTo>
                    <a:pt x="775437" y="424595"/>
                    <a:pt x="770762" y="435882"/>
                    <a:pt x="762440" y="444203"/>
                  </a:cubicBezTo>
                  <a:cubicBezTo>
                    <a:pt x="754119" y="452525"/>
                    <a:pt x="742832" y="457200"/>
                    <a:pt x="731064" y="457200"/>
                  </a:cubicBezTo>
                  <a:lnTo>
                    <a:pt x="44373" y="457200"/>
                  </a:lnTo>
                  <a:cubicBezTo>
                    <a:pt x="32605" y="457200"/>
                    <a:pt x="21318" y="452525"/>
                    <a:pt x="12997" y="444203"/>
                  </a:cubicBezTo>
                  <a:cubicBezTo>
                    <a:pt x="4675" y="435882"/>
                    <a:pt x="0" y="424595"/>
                    <a:pt x="0" y="412827"/>
                  </a:cubicBezTo>
                  <a:lnTo>
                    <a:pt x="0" y="44373"/>
                  </a:lnTo>
                  <a:cubicBezTo>
                    <a:pt x="0" y="32605"/>
                    <a:pt x="4675" y="21318"/>
                    <a:pt x="12997" y="12997"/>
                  </a:cubicBezTo>
                  <a:cubicBezTo>
                    <a:pt x="21318" y="4675"/>
                    <a:pt x="32605" y="0"/>
                    <a:pt x="4437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775437" cy="495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933533" y="1190625"/>
            <a:ext cx="13667585" cy="560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90"/>
              </a:lnSpc>
            </a:pPr>
            <a:r>
              <a:rPr lang="en-US" sz="4750" b="true">
                <a:solidFill>
                  <a:srgbClr val="FFFF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THE WORKFLOW: A TWO-STEP PROCESS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40815" y="2163696"/>
            <a:ext cx="15006371" cy="7727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599"/>
              </a:lnSpc>
            </a:pPr>
            <a:r>
              <a:rPr lang="en-US" sz="3999" u="sng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1. Encoding (Hiding the Message)</a:t>
            </a:r>
          </a:p>
          <a:p>
            <a:pPr algn="just">
              <a:lnSpc>
                <a:spcPts val="5599"/>
              </a:lnSpc>
            </a:pPr>
          </a:p>
          <a:p>
            <a:pPr algn="just" marL="863599" indent="-431800" lvl="1">
              <a:lnSpc>
                <a:spcPts val="5599"/>
              </a:lnSpc>
              <a:spcBef>
                <a:spcPct val="0"/>
              </a:spcBef>
              <a:buFont typeface="Arial"/>
              <a:buChar char="•"/>
            </a:pPr>
            <a:r>
              <a:rPr lang="en-US" sz="3999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rPr>
              <a:t>A</a:t>
            </a:r>
            <a:r>
              <a:rPr lang="en-US" sz="3999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rPr>
              <a:t> user provides their secret message and a password.</a:t>
            </a:r>
          </a:p>
          <a:p>
            <a:pPr algn="just" marL="863599" indent="-431800" lvl="1">
              <a:lnSpc>
                <a:spcPts val="5599"/>
              </a:lnSpc>
              <a:spcBef>
                <a:spcPct val="0"/>
              </a:spcBef>
              <a:buFont typeface="Arial"/>
              <a:buChar char="•"/>
            </a:pPr>
            <a:r>
              <a:rPr lang="en-US" sz="3999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rPr>
              <a:t>The message is encrypted using the password.</a:t>
            </a:r>
          </a:p>
          <a:p>
            <a:pPr algn="just" marL="863599" indent="-431800" lvl="1">
              <a:lnSpc>
                <a:spcPts val="5599"/>
              </a:lnSpc>
              <a:spcBef>
                <a:spcPct val="0"/>
              </a:spcBef>
              <a:buFont typeface="Arial"/>
              <a:buChar char="•"/>
            </a:pPr>
            <a:r>
              <a:rPr lang="en-US" sz="3999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rPr>
              <a:t>The encrypted data is then embedded into a "carrier" file (e.g., an image) using the Least Significant Bit (LSB) technique, which makes tiny, invisible changes to the file's data.</a:t>
            </a:r>
          </a:p>
          <a:p>
            <a:pPr algn="just" marL="863599" indent="-431800" lvl="1">
              <a:lnSpc>
                <a:spcPts val="5599"/>
              </a:lnSpc>
              <a:spcBef>
                <a:spcPct val="0"/>
              </a:spcBef>
              <a:buFont typeface="Arial"/>
              <a:buChar char="•"/>
            </a:pPr>
            <a:r>
              <a:rPr lang="en-US" sz="3999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rPr>
              <a:t>The output is a normal-looking file that can be shared anywhere.</a:t>
            </a:r>
          </a:p>
          <a:p>
            <a:pPr algn="just">
              <a:lnSpc>
                <a:spcPts val="559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37457" y="0"/>
            <a:ext cx="17413087" cy="10287000"/>
            <a:chOff x="0" y="0"/>
            <a:chExt cx="773915" cy="457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73915" cy="457200"/>
            </a:xfrm>
            <a:custGeom>
              <a:avLst/>
              <a:gdLst/>
              <a:ahLst/>
              <a:cxnLst/>
              <a:rect r="r" b="b" t="t" l="l"/>
              <a:pathLst>
                <a:path h="457200" w="773915">
                  <a:moveTo>
                    <a:pt x="44460" y="0"/>
                  </a:moveTo>
                  <a:lnTo>
                    <a:pt x="729455" y="0"/>
                  </a:lnTo>
                  <a:cubicBezTo>
                    <a:pt x="741246" y="0"/>
                    <a:pt x="752555" y="4684"/>
                    <a:pt x="760893" y="13022"/>
                  </a:cubicBezTo>
                  <a:cubicBezTo>
                    <a:pt x="769231" y="21360"/>
                    <a:pt x="773915" y="32669"/>
                    <a:pt x="773915" y="44460"/>
                  </a:cubicBezTo>
                  <a:lnTo>
                    <a:pt x="773915" y="412740"/>
                  </a:lnTo>
                  <a:cubicBezTo>
                    <a:pt x="773915" y="424531"/>
                    <a:pt x="769231" y="435840"/>
                    <a:pt x="760893" y="444178"/>
                  </a:cubicBezTo>
                  <a:cubicBezTo>
                    <a:pt x="752555" y="452516"/>
                    <a:pt x="741246" y="457200"/>
                    <a:pt x="729455" y="457200"/>
                  </a:cubicBezTo>
                  <a:lnTo>
                    <a:pt x="44460" y="457200"/>
                  </a:lnTo>
                  <a:cubicBezTo>
                    <a:pt x="32669" y="457200"/>
                    <a:pt x="21360" y="452516"/>
                    <a:pt x="13022" y="444178"/>
                  </a:cubicBezTo>
                  <a:cubicBezTo>
                    <a:pt x="4684" y="435840"/>
                    <a:pt x="0" y="424531"/>
                    <a:pt x="0" y="412740"/>
                  </a:cubicBezTo>
                  <a:lnTo>
                    <a:pt x="0" y="44460"/>
                  </a:lnTo>
                  <a:cubicBezTo>
                    <a:pt x="0" y="32669"/>
                    <a:pt x="4684" y="21360"/>
                    <a:pt x="13022" y="13022"/>
                  </a:cubicBezTo>
                  <a:cubicBezTo>
                    <a:pt x="21360" y="4684"/>
                    <a:pt x="32669" y="0"/>
                    <a:pt x="4446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773915" cy="495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871002" y="1905251"/>
            <a:ext cx="14545997" cy="63812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327"/>
              </a:lnSpc>
            </a:pPr>
            <a:r>
              <a:rPr lang="en-US" sz="4519" u="sng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2. Decoding (Revealing the Message)</a:t>
            </a:r>
          </a:p>
          <a:p>
            <a:pPr algn="just">
              <a:lnSpc>
                <a:spcPts val="6327"/>
              </a:lnSpc>
            </a:pPr>
          </a:p>
          <a:p>
            <a:pPr algn="just" marL="975812" indent="-487906" lvl="1">
              <a:lnSpc>
                <a:spcPts val="6327"/>
              </a:lnSpc>
              <a:buFont typeface="Arial"/>
              <a:buChar char="•"/>
            </a:pPr>
            <a:r>
              <a:rPr lang="en-US" sz="4519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rPr>
              <a:t>The recipient loads the carrier file into PixelCrypt.</a:t>
            </a:r>
          </a:p>
          <a:p>
            <a:pPr algn="just" marL="975812" indent="-487906" lvl="1">
              <a:lnSpc>
                <a:spcPts val="6327"/>
              </a:lnSpc>
              <a:buFont typeface="Arial"/>
              <a:buChar char="•"/>
            </a:pPr>
            <a:r>
              <a:rPr lang="en-US" sz="4519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rPr>
              <a:t>They enter the correct password.</a:t>
            </a:r>
          </a:p>
          <a:p>
            <a:pPr algn="just" marL="975812" indent="-487906" lvl="1">
              <a:lnSpc>
                <a:spcPts val="6327"/>
              </a:lnSpc>
              <a:buFont typeface="Arial"/>
              <a:buChar char="•"/>
            </a:pPr>
            <a:r>
              <a:rPr lang="en-US" sz="4519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rPr>
              <a:t>The tool extracts the hidden data from the file.</a:t>
            </a:r>
          </a:p>
          <a:p>
            <a:pPr algn="just" marL="975812" indent="-487906" lvl="1">
              <a:lnSpc>
                <a:spcPts val="6327"/>
              </a:lnSpc>
              <a:buFont typeface="Arial"/>
              <a:buChar char="•"/>
            </a:pPr>
            <a:r>
              <a:rPr lang="en-US" sz="4519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rPr>
              <a:t>It then decrypts the data, revealing the original secret message.</a:t>
            </a:r>
          </a:p>
          <a:p>
            <a:pPr algn="just">
              <a:lnSpc>
                <a:spcPts val="6327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77159" y="0"/>
            <a:ext cx="16933682" cy="10287000"/>
            <a:chOff x="0" y="0"/>
            <a:chExt cx="752608" cy="457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52608" cy="457200"/>
            </a:xfrm>
            <a:custGeom>
              <a:avLst/>
              <a:gdLst/>
              <a:ahLst/>
              <a:cxnLst/>
              <a:rect r="r" b="b" t="t" l="l"/>
              <a:pathLst>
                <a:path h="457200" w="752608">
                  <a:moveTo>
                    <a:pt x="45719" y="0"/>
                  </a:moveTo>
                  <a:lnTo>
                    <a:pt x="706889" y="0"/>
                  </a:lnTo>
                  <a:cubicBezTo>
                    <a:pt x="732139" y="0"/>
                    <a:pt x="752608" y="20469"/>
                    <a:pt x="752608" y="45719"/>
                  </a:cubicBezTo>
                  <a:lnTo>
                    <a:pt x="752608" y="411481"/>
                  </a:lnTo>
                  <a:cubicBezTo>
                    <a:pt x="752608" y="436731"/>
                    <a:pt x="732139" y="457200"/>
                    <a:pt x="706889" y="457200"/>
                  </a:cubicBezTo>
                  <a:lnTo>
                    <a:pt x="45719" y="457200"/>
                  </a:lnTo>
                  <a:cubicBezTo>
                    <a:pt x="20469" y="457200"/>
                    <a:pt x="0" y="436731"/>
                    <a:pt x="0" y="411481"/>
                  </a:cubicBezTo>
                  <a:lnTo>
                    <a:pt x="0" y="45719"/>
                  </a:lnTo>
                  <a:cubicBezTo>
                    <a:pt x="0" y="20469"/>
                    <a:pt x="20469" y="0"/>
                    <a:pt x="4571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752608" cy="495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933382" y="1190625"/>
            <a:ext cx="11143093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b="true" sz="5000" u="sng">
                <a:solidFill>
                  <a:srgbClr val="FFFF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MAIN FEATURES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532586" y="1958820"/>
            <a:ext cx="15405501" cy="71995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40088" indent="-370044" lvl="1">
              <a:lnSpc>
                <a:spcPts val="4799"/>
              </a:lnSpc>
              <a:buFont typeface="Arial"/>
              <a:buChar char="•"/>
            </a:pPr>
            <a:r>
              <a:rPr lang="en-US" b="true" sz="3427">
                <a:solidFill>
                  <a:srgbClr val="FFFFFF"/>
                </a:solidFill>
                <a:latin typeface="Ubuntu Bold"/>
                <a:ea typeface="Ubuntu Bold"/>
                <a:cs typeface="Ubuntu Bold"/>
                <a:sym typeface="Ubuntu Bold"/>
              </a:rPr>
              <a:t>Multi-Format Support : Go beyond images to hide data in other files like audio (.wav) and video (.mp4), making the tool far more versatile.</a:t>
            </a:r>
          </a:p>
          <a:p>
            <a:pPr algn="just" marL="740088" indent="-370044" lvl="1">
              <a:lnSpc>
                <a:spcPts val="4799"/>
              </a:lnSpc>
              <a:buFont typeface="Arial"/>
              <a:buChar char="•"/>
            </a:pPr>
            <a:r>
              <a:rPr lang="en-US" b="true" sz="3427">
                <a:solidFill>
                  <a:srgbClr val="FFFFFF"/>
                </a:solidFill>
                <a:latin typeface="Ubuntu Bold"/>
                <a:ea typeface="Ubuntu Bold"/>
                <a:cs typeface="Ubuntu Bold"/>
                <a:sym typeface="Ubuntu Bold"/>
              </a:rPr>
              <a:t>Capacity Calculator : Automatically analyse any file to instantly show the user the maximum amount of secret data it can hide without being detected.</a:t>
            </a:r>
          </a:p>
          <a:p>
            <a:pPr algn="just" marL="740088" indent="-370044" lvl="1">
              <a:lnSpc>
                <a:spcPts val="4799"/>
              </a:lnSpc>
              <a:buFont typeface="Arial"/>
              <a:buChar char="•"/>
            </a:pPr>
            <a:r>
              <a:rPr lang="en-US" b="true" sz="3427">
                <a:solidFill>
                  <a:srgbClr val="FFFFFF"/>
                </a:solidFill>
                <a:latin typeface="Ubuntu Bold"/>
                <a:ea typeface="Ubuntu Bold"/>
                <a:cs typeface="Ubuntu Bold"/>
                <a:sym typeface="Ubuntu Bold"/>
              </a:rPr>
              <a:t>Decoy Secrets : Implement "plausible deniability" with a fake password that reveals a harmless decoy message, protecting your true secret even if you're forced to talk.</a:t>
            </a:r>
          </a:p>
          <a:p>
            <a:pPr algn="just" marL="740088" indent="-370044" lvl="1">
              <a:lnSpc>
                <a:spcPts val="4799"/>
              </a:lnSpc>
              <a:buFont typeface="Arial"/>
              <a:buChar char="•"/>
            </a:pPr>
            <a:r>
              <a:rPr lang="en-US" b="true" sz="3427">
                <a:solidFill>
                  <a:srgbClr val="FFFFFF"/>
                </a:solidFill>
                <a:latin typeface="Ubuntu Bold"/>
                <a:ea typeface="Ubuntu Bold"/>
                <a:cs typeface="Ubuntu Bold"/>
                <a:sym typeface="Ubuntu Bold"/>
              </a:rPr>
              <a:t>Self Destruction </a:t>
            </a:r>
            <a:r>
              <a:rPr lang="en-US" b="true" sz="3427">
                <a:solidFill>
                  <a:srgbClr val="FFFFFF"/>
                </a:solidFill>
                <a:latin typeface="Ubuntu Bold"/>
                <a:ea typeface="Ubuntu Bold"/>
                <a:cs typeface="Ubuntu Bold"/>
                <a:sym typeface="Ubuntu Bold"/>
              </a:rPr>
              <a:t>  : automatically all the hidden images along with the media will get deleted if the receiver not able to enter the correct password after three times.</a:t>
            </a:r>
          </a:p>
          <a:p>
            <a:pPr algn="just">
              <a:lnSpc>
                <a:spcPts val="479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77159" y="0"/>
            <a:ext cx="16933682" cy="10287000"/>
            <a:chOff x="0" y="0"/>
            <a:chExt cx="752608" cy="457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52608" cy="457200"/>
            </a:xfrm>
            <a:custGeom>
              <a:avLst/>
              <a:gdLst/>
              <a:ahLst/>
              <a:cxnLst/>
              <a:rect r="r" b="b" t="t" l="l"/>
              <a:pathLst>
                <a:path h="457200" w="752608">
                  <a:moveTo>
                    <a:pt x="45719" y="0"/>
                  </a:moveTo>
                  <a:lnTo>
                    <a:pt x="706889" y="0"/>
                  </a:lnTo>
                  <a:cubicBezTo>
                    <a:pt x="732139" y="0"/>
                    <a:pt x="752608" y="20469"/>
                    <a:pt x="752608" y="45719"/>
                  </a:cubicBezTo>
                  <a:lnTo>
                    <a:pt x="752608" y="411481"/>
                  </a:lnTo>
                  <a:cubicBezTo>
                    <a:pt x="752608" y="436731"/>
                    <a:pt x="732139" y="457200"/>
                    <a:pt x="706889" y="457200"/>
                  </a:cubicBezTo>
                  <a:lnTo>
                    <a:pt x="45719" y="457200"/>
                  </a:lnTo>
                  <a:cubicBezTo>
                    <a:pt x="20469" y="457200"/>
                    <a:pt x="0" y="436731"/>
                    <a:pt x="0" y="411481"/>
                  </a:cubicBezTo>
                  <a:lnTo>
                    <a:pt x="0" y="45719"/>
                  </a:lnTo>
                  <a:cubicBezTo>
                    <a:pt x="0" y="20469"/>
                    <a:pt x="20469" y="0"/>
                    <a:pt x="4571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752608" cy="495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844317" y="945694"/>
            <a:ext cx="11143093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b="true" sz="5000" u="sng">
                <a:solidFill>
                  <a:srgbClr val="FFFF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APPLICATIONS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532586" y="1958820"/>
            <a:ext cx="15405501" cy="83997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40088" indent="-370044" lvl="1">
              <a:lnSpc>
                <a:spcPts val="4799"/>
              </a:lnSpc>
              <a:buFont typeface="Arial"/>
              <a:buChar char="•"/>
            </a:pPr>
            <a:r>
              <a:rPr lang="en-US" b="true" sz="3427">
                <a:solidFill>
                  <a:srgbClr val="FFFFFF"/>
                </a:solidFill>
                <a:latin typeface="Ubuntu Bold"/>
                <a:ea typeface="Ubuntu Bold"/>
                <a:cs typeface="Ubuntu Bold"/>
                <a:sym typeface="Ubuntu Bold"/>
              </a:rPr>
              <a:t>Journalism &amp; Activism: Bypassing surveillance and communicating safely in high-risk environments.</a:t>
            </a:r>
          </a:p>
          <a:p>
            <a:pPr algn="just">
              <a:lnSpc>
                <a:spcPts val="4799"/>
              </a:lnSpc>
            </a:pPr>
          </a:p>
          <a:p>
            <a:pPr algn="just" marL="740088" indent="-370044" lvl="1">
              <a:lnSpc>
                <a:spcPts val="4799"/>
              </a:lnSpc>
              <a:buFont typeface="Arial"/>
              <a:buChar char="•"/>
            </a:pPr>
            <a:r>
              <a:rPr lang="en-US" b="true" sz="3427">
                <a:solidFill>
                  <a:srgbClr val="FFFFFF"/>
                </a:solidFill>
                <a:latin typeface="Ubuntu Bold"/>
                <a:ea typeface="Ubuntu Bold"/>
                <a:cs typeface="Ubuntu Bold"/>
                <a:sym typeface="Ubuntu Bold"/>
              </a:rPr>
              <a:t>Intellectual Property Protection: Embedding invisible watermarks to prove ownership of digital art or securing corporate trade secrets.</a:t>
            </a:r>
          </a:p>
          <a:p>
            <a:pPr algn="just">
              <a:lnSpc>
                <a:spcPts val="4799"/>
              </a:lnSpc>
            </a:pPr>
          </a:p>
          <a:p>
            <a:pPr algn="just" marL="740088" indent="-370044" lvl="1">
              <a:lnSpc>
                <a:spcPts val="4799"/>
              </a:lnSpc>
              <a:buFont typeface="Arial"/>
              <a:buChar char="•"/>
            </a:pPr>
            <a:r>
              <a:rPr lang="en-US" b="true" sz="3427">
                <a:solidFill>
                  <a:srgbClr val="FFFFFF"/>
                </a:solidFill>
                <a:latin typeface="Ubuntu Bold"/>
                <a:ea typeface="Ubuntu Bold"/>
                <a:cs typeface="Ubuntu Bold"/>
                <a:sym typeface="Ubuntu Bold"/>
              </a:rPr>
              <a:t>An R&amp;D team needs to send a secret design or formula to another company.They want extra security so no one can steal or spy on their information while sharing it.</a:t>
            </a:r>
          </a:p>
          <a:p>
            <a:pPr algn="just">
              <a:lnSpc>
                <a:spcPts val="4799"/>
              </a:lnSpc>
            </a:pPr>
          </a:p>
          <a:p>
            <a:pPr algn="just" marL="740088" indent="-370044" lvl="1">
              <a:lnSpc>
                <a:spcPts val="4799"/>
              </a:lnSpc>
              <a:buFont typeface="Arial"/>
              <a:buChar char="•"/>
            </a:pPr>
            <a:r>
              <a:rPr lang="en-US" b="true" sz="3427">
                <a:solidFill>
                  <a:srgbClr val="FFFFFF"/>
                </a:solidFill>
                <a:latin typeface="Ubuntu Bold"/>
                <a:ea typeface="Ubuntu Bold"/>
                <a:cs typeface="Ubuntu Bold"/>
                <a:sym typeface="Ubuntu Bold"/>
              </a:rPr>
              <a:t>Personal Data Security: Creating hidden digital vaults for passwords, recovery keys, and private notes within personal photos stored in the cloud.</a:t>
            </a:r>
          </a:p>
          <a:p>
            <a:pPr algn="just">
              <a:lnSpc>
                <a:spcPts val="4799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77159" y="0"/>
            <a:ext cx="16933682" cy="10287000"/>
            <a:chOff x="0" y="0"/>
            <a:chExt cx="752608" cy="457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52608" cy="457200"/>
            </a:xfrm>
            <a:custGeom>
              <a:avLst/>
              <a:gdLst/>
              <a:ahLst/>
              <a:cxnLst/>
              <a:rect r="r" b="b" t="t" l="l"/>
              <a:pathLst>
                <a:path h="457200" w="752608">
                  <a:moveTo>
                    <a:pt x="45719" y="0"/>
                  </a:moveTo>
                  <a:lnTo>
                    <a:pt x="706889" y="0"/>
                  </a:lnTo>
                  <a:cubicBezTo>
                    <a:pt x="732139" y="0"/>
                    <a:pt x="752608" y="20469"/>
                    <a:pt x="752608" y="45719"/>
                  </a:cubicBezTo>
                  <a:lnTo>
                    <a:pt x="752608" y="411481"/>
                  </a:lnTo>
                  <a:cubicBezTo>
                    <a:pt x="752608" y="436731"/>
                    <a:pt x="732139" y="457200"/>
                    <a:pt x="706889" y="457200"/>
                  </a:cubicBezTo>
                  <a:lnTo>
                    <a:pt x="45719" y="457200"/>
                  </a:lnTo>
                  <a:cubicBezTo>
                    <a:pt x="20469" y="457200"/>
                    <a:pt x="0" y="436731"/>
                    <a:pt x="0" y="411481"/>
                  </a:cubicBezTo>
                  <a:lnTo>
                    <a:pt x="0" y="45719"/>
                  </a:lnTo>
                  <a:cubicBezTo>
                    <a:pt x="0" y="20469"/>
                    <a:pt x="20469" y="0"/>
                    <a:pt x="4571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752608" cy="495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933382" y="1190625"/>
            <a:ext cx="11143093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b="true" sz="5000" u="sng">
                <a:solidFill>
                  <a:srgbClr val="FFFF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TECHNOLOGY &amp; TOOLS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83073" y="2185292"/>
            <a:ext cx="14921853" cy="70730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648"/>
              </a:lnSpc>
              <a:spcBef>
                <a:spcPct val="0"/>
              </a:spcBef>
            </a:pPr>
            <a:r>
              <a:rPr lang="en-US" b="true" sz="3320">
                <a:solidFill>
                  <a:srgbClr val="FFFFFF"/>
                </a:solidFill>
                <a:latin typeface="Ubuntu Bold"/>
                <a:ea typeface="Ubuntu Bold"/>
                <a:cs typeface="Ubuntu Bold"/>
                <a:sym typeface="Ubuntu Bold"/>
              </a:rPr>
              <a:t>PixelCrypt is built using powerful and accessible open-s</a:t>
            </a:r>
            <a:r>
              <a:rPr lang="en-US" b="true" sz="3320">
                <a:solidFill>
                  <a:srgbClr val="FFFFFF"/>
                </a:solidFill>
                <a:latin typeface="Ubuntu Bold"/>
                <a:ea typeface="Ubuntu Bold"/>
                <a:cs typeface="Ubuntu Bold"/>
                <a:sym typeface="Ubuntu Bold"/>
              </a:rPr>
              <a:t>ource technologies, making it a robust and practical tool.</a:t>
            </a:r>
          </a:p>
          <a:p>
            <a:pPr algn="just">
              <a:lnSpc>
                <a:spcPts val="4648"/>
              </a:lnSpc>
              <a:spcBef>
                <a:spcPct val="0"/>
              </a:spcBef>
            </a:pPr>
          </a:p>
          <a:p>
            <a:pPr algn="just" marL="716854" indent="-358427" lvl="1">
              <a:lnSpc>
                <a:spcPts val="4648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320">
                <a:solidFill>
                  <a:srgbClr val="FFFFFF"/>
                </a:solidFill>
                <a:latin typeface="Ubuntu Bold"/>
                <a:ea typeface="Ubuntu Bold"/>
                <a:cs typeface="Ubuntu Bold"/>
                <a:sym typeface="Ubuntu Bold"/>
              </a:rPr>
              <a:t>Programming Language: Python – versatile and rich in libraries.</a:t>
            </a:r>
          </a:p>
          <a:p>
            <a:pPr algn="just" marL="716854" indent="-358427" lvl="1">
              <a:lnSpc>
                <a:spcPts val="4648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320">
                <a:solidFill>
                  <a:srgbClr val="FFFFFF"/>
                </a:solidFill>
                <a:latin typeface="Ubuntu Bold"/>
                <a:ea typeface="Ubuntu Bold"/>
                <a:cs typeface="Ubuntu Bold"/>
                <a:sym typeface="Ubuntu Bold"/>
              </a:rPr>
              <a:t>Backend Framework: Flask – lightweight API framework for backend logic.</a:t>
            </a:r>
          </a:p>
          <a:p>
            <a:pPr algn="just" marL="716854" indent="-358427" lvl="1">
              <a:lnSpc>
                <a:spcPts val="4648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320">
                <a:solidFill>
                  <a:srgbClr val="FFFFFF"/>
                </a:solidFill>
                <a:latin typeface="Ubuntu Bold"/>
                <a:ea typeface="Ubuntu Bold"/>
                <a:cs typeface="Ubuntu Bold"/>
                <a:sym typeface="Ubuntu Bold"/>
              </a:rPr>
              <a:t>Cryptography: Cryptography (Fernet / AES) – for secure message encryption.</a:t>
            </a:r>
          </a:p>
          <a:p>
            <a:pPr algn="just" marL="716854" indent="-358427" lvl="1">
              <a:lnSpc>
                <a:spcPts val="4648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320">
                <a:solidFill>
                  <a:srgbClr val="FFFFFF"/>
                </a:solidFill>
                <a:latin typeface="Ubuntu Bold"/>
                <a:ea typeface="Ubuntu Bold"/>
                <a:cs typeface="Ubuntu Bold"/>
                <a:sym typeface="Ubuntu Bold"/>
              </a:rPr>
              <a:t>Steganography: Pillow (Image), Wave (Audio), OpenCV + FFmpeg (Video) – for LSB-based data hiding.</a:t>
            </a:r>
          </a:p>
          <a:p>
            <a:pPr algn="just" marL="716854" indent="-358427" lvl="1">
              <a:lnSpc>
                <a:spcPts val="4648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320">
                <a:solidFill>
                  <a:srgbClr val="FFFFFF"/>
                </a:solidFill>
                <a:latin typeface="Ubuntu Bold"/>
                <a:ea typeface="Ubuntu Bold"/>
                <a:cs typeface="Ubuntu Bold"/>
                <a:sym typeface="Ubuntu Bold"/>
              </a:rPr>
              <a:t>Frontend (UI): React.js – fast, responsive, and modern user interface.</a:t>
            </a:r>
          </a:p>
          <a:p>
            <a:pPr algn="just">
              <a:lnSpc>
                <a:spcPts val="4648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028700"/>
            <a:ext cx="16230600" cy="8229600"/>
            <a:chOff x="0" y="0"/>
            <a:chExt cx="721360" cy="3657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21360" cy="365760"/>
            </a:xfrm>
            <a:custGeom>
              <a:avLst/>
              <a:gdLst/>
              <a:ahLst/>
              <a:cxnLst/>
              <a:rect r="r" b="b" t="t" l="l"/>
              <a:pathLst>
                <a:path h="365760" w="721360">
                  <a:moveTo>
                    <a:pt x="47700" y="0"/>
                  </a:moveTo>
                  <a:lnTo>
                    <a:pt x="673660" y="0"/>
                  </a:lnTo>
                  <a:cubicBezTo>
                    <a:pt x="686311" y="0"/>
                    <a:pt x="698444" y="5025"/>
                    <a:pt x="707389" y="13971"/>
                  </a:cubicBezTo>
                  <a:cubicBezTo>
                    <a:pt x="716335" y="22916"/>
                    <a:pt x="721360" y="35049"/>
                    <a:pt x="721360" y="47700"/>
                  </a:cubicBezTo>
                  <a:lnTo>
                    <a:pt x="721360" y="318060"/>
                  </a:lnTo>
                  <a:cubicBezTo>
                    <a:pt x="721360" y="330711"/>
                    <a:pt x="716335" y="342844"/>
                    <a:pt x="707389" y="351789"/>
                  </a:cubicBezTo>
                  <a:cubicBezTo>
                    <a:pt x="698444" y="360735"/>
                    <a:pt x="686311" y="365760"/>
                    <a:pt x="673660" y="365760"/>
                  </a:cubicBezTo>
                  <a:lnTo>
                    <a:pt x="47700" y="365760"/>
                  </a:lnTo>
                  <a:cubicBezTo>
                    <a:pt x="35049" y="365760"/>
                    <a:pt x="22916" y="360735"/>
                    <a:pt x="13971" y="351789"/>
                  </a:cubicBezTo>
                  <a:cubicBezTo>
                    <a:pt x="5025" y="342844"/>
                    <a:pt x="0" y="330711"/>
                    <a:pt x="0" y="318060"/>
                  </a:cubicBezTo>
                  <a:lnTo>
                    <a:pt x="0" y="47700"/>
                  </a:lnTo>
                  <a:cubicBezTo>
                    <a:pt x="0" y="35049"/>
                    <a:pt x="5025" y="22916"/>
                    <a:pt x="13971" y="13971"/>
                  </a:cubicBezTo>
                  <a:cubicBezTo>
                    <a:pt x="22916" y="5025"/>
                    <a:pt x="35049" y="0"/>
                    <a:pt x="477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721360" cy="4038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954566" y="1028700"/>
            <a:ext cx="7304734" cy="8229600"/>
            <a:chOff x="0" y="0"/>
            <a:chExt cx="324655" cy="3657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24655" cy="365760"/>
            </a:xfrm>
            <a:custGeom>
              <a:avLst/>
              <a:gdLst/>
              <a:ahLst/>
              <a:cxnLst/>
              <a:rect r="r" b="b" t="t" l="l"/>
              <a:pathLst>
                <a:path h="365760" w="324655">
                  <a:moveTo>
                    <a:pt x="105985" y="0"/>
                  </a:moveTo>
                  <a:lnTo>
                    <a:pt x="218670" y="0"/>
                  </a:lnTo>
                  <a:cubicBezTo>
                    <a:pt x="246779" y="0"/>
                    <a:pt x="273737" y="11166"/>
                    <a:pt x="293613" y="31042"/>
                  </a:cubicBezTo>
                  <a:cubicBezTo>
                    <a:pt x="313489" y="50918"/>
                    <a:pt x="324655" y="77876"/>
                    <a:pt x="324655" y="105985"/>
                  </a:cubicBezTo>
                  <a:lnTo>
                    <a:pt x="324655" y="259775"/>
                  </a:lnTo>
                  <a:cubicBezTo>
                    <a:pt x="324655" y="287884"/>
                    <a:pt x="313489" y="314842"/>
                    <a:pt x="293613" y="334718"/>
                  </a:cubicBezTo>
                  <a:cubicBezTo>
                    <a:pt x="273737" y="354594"/>
                    <a:pt x="246779" y="365760"/>
                    <a:pt x="218670" y="365760"/>
                  </a:cubicBezTo>
                  <a:lnTo>
                    <a:pt x="105985" y="365760"/>
                  </a:lnTo>
                  <a:cubicBezTo>
                    <a:pt x="47451" y="365760"/>
                    <a:pt x="0" y="318309"/>
                    <a:pt x="0" y="259775"/>
                  </a:cubicBezTo>
                  <a:lnTo>
                    <a:pt x="0" y="105985"/>
                  </a:lnTo>
                  <a:cubicBezTo>
                    <a:pt x="0" y="77876"/>
                    <a:pt x="11166" y="50918"/>
                    <a:pt x="31042" y="31042"/>
                  </a:cubicBezTo>
                  <a:cubicBezTo>
                    <a:pt x="50918" y="11166"/>
                    <a:pt x="77876" y="0"/>
                    <a:pt x="105985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324655" cy="4038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28700" y="7057580"/>
            <a:ext cx="11363078" cy="2200720"/>
            <a:chOff x="0" y="0"/>
            <a:chExt cx="505026" cy="9781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05026" cy="97810"/>
            </a:xfrm>
            <a:custGeom>
              <a:avLst/>
              <a:gdLst/>
              <a:ahLst/>
              <a:cxnLst/>
              <a:rect r="r" b="b" t="t" l="l"/>
              <a:pathLst>
                <a:path h="97810" w="505026">
                  <a:moveTo>
                    <a:pt x="48905" y="0"/>
                  </a:moveTo>
                  <a:lnTo>
                    <a:pt x="456121" y="0"/>
                  </a:lnTo>
                  <a:cubicBezTo>
                    <a:pt x="469091" y="0"/>
                    <a:pt x="481530" y="5152"/>
                    <a:pt x="490702" y="14324"/>
                  </a:cubicBezTo>
                  <a:cubicBezTo>
                    <a:pt x="499873" y="23495"/>
                    <a:pt x="505026" y="35934"/>
                    <a:pt x="505026" y="48905"/>
                  </a:cubicBezTo>
                  <a:lnTo>
                    <a:pt x="505026" y="48905"/>
                  </a:lnTo>
                  <a:cubicBezTo>
                    <a:pt x="505026" y="61875"/>
                    <a:pt x="499873" y="74314"/>
                    <a:pt x="490702" y="83486"/>
                  </a:cubicBezTo>
                  <a:cubicBezTo>
                    <a:pt x="481530" y="92657"/>
                    <a:pt x="469091" y="97810"/>
                    <a:pt x="456121" y="97810"/>
                  </a:cubicBezTo>
                  <a:lnTo>
                    <a:pt x="48905" y="97810"/>
                  </a:lnTo>
                  <a:cubicBezTo>
                    <a:pt x="35934" y="97810"/>
                    <a:pt x="23495" y="92657"/>
                    <a:pt x="14324" y="83486"/>
                  </a:cubicBezTo>
                  <a:cubicBezTo>
                    <a:pt x="5152" y="74314"/>
                    <a:pt x="0" y="61875"/>
                    <a:pt x="0" y="48905"/>
                  </a:cubicBezTo>
                  <a:lnTo>
                    <a:pt x="0" y="48905"/>
                  </a:lnTo>
                  <a:cubicBezTo>
                    <a:pt x="0" y="35934"/>
                    <a:pt x="5152" y="23495"/>
                    <a:pt x="14324" y="14324"/>
                  </a:cubicBezTo>
                  <a:cubicBezTo>
                    <a:pt x="23495" y="5152"/>
                    <a:pt x="35934" y="0"/>
                    <a:pt x="48905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505026" cy="1359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2215373" y="2885751"/>
            <a:ext cx="6861952" cy="29174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901"/>
              </a:lnSpc>
            </a:pPr>
            <a:r>
              <a:rPr lang="en-US" b="true" sz="12977">
                <a:solidFill>
                  <a:srgbClr val="FFFF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THANK</a:t>
            </a:r>
          </a:p>
          <a:p>
            <a:pPr algn="ctr">
              <a:lnSpc>
                <a:spcPts val="10901"/>
              </a:lnSpc>
            </a:pPr>
            <a:r>
              <a:rPr lang="en-US" b="true" sz="12977">
                <a:solidFill>
                  <a:srgbClr val="FFFF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YOU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0660490" y="1515789"/>
            <a:ext cx="6246918" cy="7255422"/>
          </a:xfrm>
          <a:custGeom>
            <a:avLst/>
            <a:gdLst/>
            <a:ahLst/>
            <a:cxnLst/>
            <a:rect r="r" b="b" t="t" l="l"/>
            <a:pathLst>
              <a:path h="7255422" w="6246918">
                <a:moveTo>
                  <a:pt x="0" y="0"/>
                </a:moveTo>
                <a:lnTo>
                  <a:pt x="6246918" y="0"/>
                </a:lnTo>
                <a:lnTo>
                  <a:pt x="6246918" y="7255422"/>
                </a:lnTo>
                <a:lnTo>
                  <a:pt x="0" y="72554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028700"/>
            <a:ext cx="16230600" cy="8229600"/>
            <a:chOff x="0" y="0"/>
            <a:chExt cx="721360" cy="3657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21360" cy="365760"/>
            </a:xfrm>
            <a:custGeom>
              <a:avLst/>
              <a:gdLst/>
              <a:ahLst/>
              <a:cxnLst/>
              <a:rect r="r" b="b" t="t" l="l"/>
              <a:pathLst>
                <a:path h="365760" w="721360">
                  <a:moveTo>
                    <a:pt x="47700" y="0"/>
                  </a:moveTo>
                  <a:lnTo>
                    <a:pt x="673660" y="0"/>
                  </a:lnTo>
                  <a:cubicBezTo>
                    <a:pt x="686311" y="0"/>
                    <a:pt x="698444" y="5025"/>
                    <a:pt x="707389" y="13971"/>
                  </a:cubicBezTo>
                  <a:cubicBezTo>
                    <a:pt x="716335" y="22916"/>
                    <a:pt x="721360" y="35049"/>
                    <a:pt x="721360" y="47700"/>
                  </a:cubicBezTo>
                  <a:lnTo>
                    <a:pt x="721360" y="318060"/>
                  </a:lnTo>
                  <a:cubicBezTo>
                    <a:pt x="721360" y="330711"/>
                    <a:pt x="716335" y="342844"/>
                    <a:pt x="707389" y="351789"/>
                  </a:cubicBezTo>
                  <a:cubicBezTo>
                    <a:pt x="698444" y="360735"/>
                    <a:pt x="686311" y="365760"/>
                    <a:pt x="673660" y="365760"/>
                  </a:cubicBezTo>
                  <a:lnTo>
                    <a:pt x="47700" y="365760"/>
                  </a:lnTo>
                  <a:cubicBezTo>
                    <a:pt x="35049" y="365760"/>
                    <a:pt x="22916" y="360735"/>
                    <a:pt x="13971" y="351789"/>
                  </a:cubicBezTo>
                  <a:cubicBezTo>
                    <a:pt x="5025" y="342844"/>
                    <a:pt x="0" y="330711"/>
                    <a:pt x="0" y="318060"/>
                  </a:cubicBezTo>
                  <a:lnTo>
                    <a:pt x="0" y="47700"/>
                  </a:lnTo>
                  <a:cubicBezTo>
                    <a:pt x="0" y="35049"/>
                    <a:pt x="5025" y="22916"/>
                    <a:pt x="13971" y="13971"/>
                  </a:cubicBezTo>
                  <a:cubicBezTo>
                    <a:pt x="22916" y="5025"/>
                    <a:pt x="35049" y="0"/>
                    <a:pt x="477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721360" cy="4038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954566" y="1028700"/>
            <a:ext cx="7304734" cy="8229600"/>
            <a:chOff x="0" y="0"/>
            <a:chExt cx="324655" cy="3657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24655" cy="365760"/>
            </a:xfrm>
            <a:custGeom>
              <a:avLst/>
              <a:gdLst/>
              <a:ahLst/>
              <a:cxnLst/>
              <a:rect r="r" b="b" t="t" l="l"/>
              <a:pathLst>
                <a:path h="365760" w="324655">
                  <a:moveTo>
                    <a:pt x="105985" y="0"/>
                  </a:moveTo>
                  <a:lnTo>
                    <a:pt x="218670" y="0"/>
                  </a:lnTo>
                  <a:cubicBezTo>
                    <a:pt x="246779" y="0"/>
                    <a:pt x="273737" y="11166"/>
                    <a:pt x="293613" y="31042"/>
                  </a:cubicBezTo>
                  <a:cubicBezTo>
                    <a:pt x="313489" y="50918"/>
                    <a:pt x="324655" y="77876"/>
                    <a:pt x="324655" y="105985"/>
                  </a:cubicBezTo>
                  <a:lnTo>
                    <a:pt x="324655" y="259775"/>
                  </a:lnTo>
                  <a:cubicBezTo>
                    <a:pt x="324655" y="287884"/>
                    <a:pt x="313489" y="314842"/>
                    <a:pt x="293613" y="334718"/>
                  </a:cubicBezTo>
                  <a:cubicBezTo>
                    <a:pt x="273737" y="354594"/>
                    <a:pt x="246779" y="365760"/>
                    <a:pt x="218670" y="365760"/>
                  </a:cubicBezTo>
                  <a:lnTo>
                    <a:pt x="105985" y="365760"/>
                  </a:lnTo>
                  <a:cubicBezTo>
                    <a:pt x="47451" y="365760"/>
                    <a:pt x="0" y="318309"/>
                    <a:pt x="0" y="259775"/>
                  </a:cubicBezTo>
                  <a:lnTo>
                    <a:pt x="0" y="105985"/>
                  </a:lnTo>
                  <a:cubicBezTo>
                    <a:pt x="0" y="77876"/>
                    <a:pt x="11166" y="50918"/>
                    <a:pt x="31042" y="31042"/>
                  </a:cubicBezTo>
                  <a:cubicBezTo>
                    <a:pt x="50918" y="11166"/>
                    <a:pt x="77876" y="0"/>
                    <a:pt x="105985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324655" cy="4038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28700" y="7057580"/>
            <a:ext cx="11363078" cy="2200720"/>
            <a:chOff x="0" y="0"/>
            <a:chExt cx="505026" cy="9781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05026" cy="97810"/>
            </a:xfrm>
            <a:custGeom>
              <a:avLst/>
              <a:gdLst/>
              <a:ahLst/>
              <a:cxnLst/>
              <a:rect r="r" b="b" t="t" l="l"/>
              <a:pathLst>
                <a:path h="97810" w="505026">
                  <a:moveTo>
                    <a:pt x="48905" y="0"/>
                  </a:moveTo>
                  <a:lnTo>
                    <a:pt x="456121" y="0"/>
                  </a:lnTo>
                  <a:cubicBezTo>
                    <a:pt x="469091" y="0"/>
                    <a:pt x="481530" y="5152"/>
                    <a:pt x="490702" y="14324"/>
                  </a:cubicBezTo>
                  <a:cubicBezTo>
                    <a:pt x="499873" y="23495"/>
                    <a:pt x="505026" y="35934"/>
                    <a:pt x="505026" y="48905"/>
                  </a:cubicBezTo>
                  <a:lnTo>
                    <a:pt x="505026" y="48905"/>
                  </a:lnTo>
                  <a:cubicBezTo>
                    <a:pt x="505026" y="61875"/>
                    <a:pt x="499873" y="74314"/>
                    <a:pt x="490702" y="83486"/>
                  </a:cubicBezTo>
                  <a:cubicBezTo>
                    <a:pt x="481530" y="92657"/>
                    <a:pt x="469091" y="97810"/>
                    <a:pt x="456121" y="97810"/>
                  </a:cubicBezTo>
                  <a:lnTo>
                    <a:pt x="48905" y="97810"/>
                  </a:lnTo>
                  <a:cubicBezTo>
                    <a:pt x="35934" y="97810"/>
                    <a:pt x="23495" y="92657"/>
                    <a:pt x="14324" y="83486"/>
                  </a:cubicBezTo>
                  <a:cubicBezTo>
                    <a:pt x="5152" y="74314"/>
                    <a:pt x="0" y="61875"/>
                    <a:pt x="0" y="48905"/>
                  </a:cubicBezTo>
                  <a:lnTo>
                    <a:pt x="0" y="48905"/>
                  </a:lnTo>
                  <a:cubicBezTo>
                    <a:pt x="0" y="35934"/>
                    <a:pt x="5152" y="23495"/>
                    <a:pt x="14324" y="14324"/>
                  </a:cubicBezTo>
                  <a:cubicBezTo>
                    <a:pt x="23495" y="5152"/>
                    <a:pt x="35934" y="0"/>
                    <a:pt x="48905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505026" cy="1359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4330686" y="4549330"/>
            <a:ext cx="6861952" cy="594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66"/>
              </a:lnSpc>
            </a:pPr>
            <a:r>
              <a:rPr lang="en-US" b="true" sz="5079">
                <a:solidFill>
                  <a:srgbClr val="FFFF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REVIEW-2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0660490" y="1515789"/>
            <a:ext cx="6246918" cy="7255422"/>
          </a:xfrm>
          <a:custGeom>
            <a:avLst/>
            <a:gdLst/>
            <a:ahLst/>
            <a:cxnLst/>
            <a:rect r="r" b="b" t="t" l="l"/>
            <a:pathLst>
              <a:path h="7255422" w="6246918">
                <a:moveTo>
                  <a:pt x="0" y="0"/>
                </a:moveTo>
                <a:lnTo>
                  <a:pt x="6246918" y="0"/>
                </a:lnTo>
                <a:lnTo>
                  <a:pt x="6246918" y="7255422"/>
                </a:lnTo>
                <a:lnTo>
                  <a:pt x="0" y="72554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183815" y="2900718"/>
            <a:ext cx="8472438" cy="11846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65"/>
              </a:lnSpc>
            </a:pPr>
            <a:r>
              <a:rPr lang="en-US" b="true" sz="10078">
                <a:solidFill>
                  <a:srgbClr val="FFFF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PIXELCRYPT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710239" y="7522430"/>
            <a:ext cx="6387293" cy="986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By Varun Kumar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USN : 1BI24MC157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77159" y="0"/>
            <a:ext cx="16933682" cy="10287000"/>
            <a:chOff x="0" y="0"/>
            <a:chExt cx="752608" cy="457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52608" cy="457200"/>
            </a:xfrm>
            <a:custGeom>
              <a:avLst/>
              <a:gdLst/>
              <a:ahLst/>
              <a:cxnLst/>
              <a:rect r="r" b="b" t="t" l="l"/>
              <a:pathLst>
                <a:path h="457200" w="752608">
                  <a:moveTo>
                    <a:pt x="45719" y="0"/>
                  </a:moveTo>
                  <a:lnTo>
                    <a:pt x="706889" y="0"/>
                  </a:lnTo>
                  <a:cubicBezTo>
                    <a:pt x="732139" y="0"/>
                    <a:pt x="752608" y="20469"/>
                    <a:pt x="752608" y="45719"/>
                  </a:cubicBezTo>
                  <a:lnTo>
                    <a:pt x="752608" y="411481"/>
                  </a:lnTo>
                  <a:cubicBezTo>
                    <a:pt x="752608" y="436731"/>
                    <a:pt x="732139" y="457200"/>
                    <a:pt x="706889" y="457200"/>
                  </a:cubicBezTo>
                  <a:lnTo>
                    <a:pt x="45719" y="457200"/>
                  </a:lnTo>
                  <a:cubicBezTo>
                    <a:pt x="20469" y="457200"/>
                    <a:pt x="0" y="436731"/>
                    <a:pt x="0" y="411481"/>
                  </a:cubicBezTo>
                  <a:lnTo>
                    <a:pt x="0" y="45719"/>
                  </a:lnTo>
                  <a:cubicBezTo>
                    <a:pt x="0" y="20469"/>
                    <a:pt x="20469" y="0"/>
                    <a:pt x="4571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752608" cy="495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410209" indent="-205105" lvl="1">
                <a:lnSpc>
                  <a:spcPts val="2659"/>
                </a:lnSpc>
                <a:buFont typeface="Arial"/>
                <a:buChar char="•"/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229098" y="1385124"/>
            <a:ext cx="6823400" cy="299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84"/>
              </a:lnSpc>
            </a:pPr>
            <a:r>
              <a:rPr lang="en-US" sz="2600" b="true">
                <a:solidFill>
                  <a:srgbClr val="FFFF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 - CHOSEN SDLC MODEL: AGILE MODEL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50030" y="4731555"/>
            <a:ext cx="15806990" cy="4912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04518" indent="-302259" lvl="1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799">
                <a:solidFill>
                  <a:srgbClr val="FFFFFF"/>
                </a:solidFill>
                <a:latin typeface="Ubuntu Bold"/>
                <a:ea typeface="Ubuntu Bold"/>
                <a:cs typeface="Ubuntu Bold"/>
                <a:sym typeface="Ubuntu Bold"/>
              </a:rPr>
              <a:t>Requirement Analysis : </a:t>
            </a:r>
            <a:r>
              <a:rPr lang="en-US" sz="2799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rPr>
              <a:t>Identify the goal – securely hide se</a:t>
            </a:r>
            <a:r>
              <a:rPr lang="en-US" sz="2799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rPr>
              <a:t>cret messages inside images, audio, or video files.</a:t>
            </a:r>
          </a:p>
          <a:p>
            <a:pPr algn="just" marL="604518" indent="-302259" lvl="1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799">
                <a:solidFill>
                  <a:srgbClr val="FFFFFF"/>
                </a:solidFill>
                <a:latin typeface="Ubuntu Bold"/>
                <a:ea typeface="Ubuntu Bold"/>
                <a:cs typeface="Ubuntu Bold"/>
                <a:sym typeface="Ubuntu Bold"/>
              </a:rPr>
              <a:t>Design :</a:t>
            </a:r>
            <a:r>
              <a:rPr lang="en-US" sz="2799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rPr>
              <a:t> Define modular architecture for encoding, decoding, and file handling.</a:t>
            </a:r>
          </a:p>
          <a:p>
            <a:pPr algn="just" marL="604518" indent="-302259" lvl="1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799">
                <a:solidFill>
                  <a:srgbClr val="FFFFFF"/>
                </a:solidFill>
                <a:latin typeface="Ubuntu Bold"/>
                <a:ea typeface="Ubuntu Bold"/>
                <a:cs typeface="Ubuntu Bold"/>
                <a:sym typeface="Ubuntu Bold"/>
              </a:rPr>
              <a:t>Devel</a:t>
            </a:r>
            <a:r>
              <a:rPr lang="en-US" b="true" sz="2799">
                <a:solidFill>
                  <a:srgbClr val="FFFFFF"/>
                </a:solidFill>
                <a:latin typeface="Ubuntu Bold"/>
                <a:ea typeface="Ubuntu Bold"/>
                <a:cs typeface="Ubuntu Bold"/>
                <a:sym typeface="Ubuntu Bold"/>
              </a:rPr>
              <a:t>opment : </a:t>
            </a:r>
            <a:r>
              <a:rPr lang="en-US" sz="2799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rPr>
              <a:t>Implement encryption (AES-256) and steganography using Pillow (image), FFmpeg + OpenCV (video), and Wave (audio).</a:t>
            </a:r>
          </a:p>
          <a:p>
            <a:pPr algn="just" marL="604518" indent="-302259" lvl="1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799">
                <a:solidFill>
                  <a:srgbClr val="FFFFFF"/>
                </a:solidFill>
                <a:latin typeface="Ubuntu Bold"/>
                <a:ea typeface="Ubuntu Bold"/>
                <a:cs typeface="Ubuntu Bold"/>
                <a:sym typeface="Ubuntu Bold"/>
              </a:rPr>
              <a:t>Testing : </a:t>
            </a:r>
            <a:r>
              <a:rPr lang="en-US" sz="2799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rPr>
              <a:t>Validate with various formats – .png, .jpg, .mp3, .wav, .mp4.</a:t>
            </a:r>
          </a:p>
          <a:p>
            <a:pPr algn="just" marL="604518" indent="-302259" lvl="1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799">
                <a:solidFill>
                  <a:srgbClr val="FFFFFF"/>
                </a:solidFill>
                <a:latin typeface="Ubuntu Bold"/>
                <a:ea typeface="Ubuntu Bold"/>
                <a:cs typeface="Ubuntu Bold"/>
                <a:sym typeface="Ubuntu Bold"/>
              </a:rPr>
              <a:t>Depl</a:t>
            </a:r>
            <a:r>
              <a:rPr lang="en-US" b="true" sz="2799">
                <a:solidFill>
                  <a:srgbClr val="FFFFFF"/>
                </a:solidFill>
                <a:latin typeface="Ubuntu Bold"/>
                <a:ea typeface="Ubuntu Bold"/>
                <a:cs typeface="Ubuntu Bold"/>
                <a:sym typeface="Ubuntu Bold"/>
              </a:rPr>
              <a:t>oyment :</a:t>
            </a:r>
            <a:r>
              <a:rPr lang="en-US" sz="2799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rPr>
              <a:t> Deployed locally with Flask backend and simple web UI (React frontend).</a:t>
            </a:r>
          </a:p>
          <a:p>
            <a:pPr algn="just" marL="604518" indent="-302259" lvl="1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799">
                <a:solidFill>
                  <a:srgbClr val="FFFFFF"/>
                </a:solidFill>
                <a:latin typeface="Ubuntu Bold"/>
                <a:ea typeface="Ubuntu Bold"/>
                <a:cs typeface="Ubuntu Bold"/>
                <a:sym typeface="Ubuntu Bold"/>
              </a:rPr>
              <a:t>Review : </a:t>
            </a:r>
            <a:r>
              <a:rPr lang="en-US" sz="2799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rPr>
              <a:t>Each iteration was internally validated through structured testing and quality checks to ensure robust performance across image, audio, and video modules along with the security.</a:t>
            </a:r>
          </a:p>
          <a:p>
            <a:pPr algn="just">
              <a:lnSpc>
                <a:spcPts val="3639"/>
              </a:lnSpc>
              <a:spcBef>
                <a:spcPct val="0"/>
              </a:spcBef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229098" y="473771"/>
            <a:ext cx="5153415" cy="4827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4"/>
              </a:lnSpc>
            </a:pPr>
            <a:r>
              <a:rPr lang="en-US" b="true" sz="4100" u="sng">
                <a:solidFill>
                  <a:srgbClr val="FFFF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METHODOLOGY :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29098" y="2238981"/>
            <a:ext cx="6289005" cy="3185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52"/>
              </a:lnSpc>
            </a:pPr>
            <a:r>
              <a:rPr lang="en-US" b="true" sz="2800" u="sng">
                <a:solidFill>
                  <a:srgbClr val="FFFF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 - REASON FOR CHOOSING AGILE: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29098" y="2814675"/>
            <a:ext cx="16381743" cy="1004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32" indent="-302266" lvl="1">
              <a:lnSpc>
                <a:spcPts val="4004"/>
              </a:lnSpc>
              <a:buFont typeface="Arial"/>
              <a:buChar char="•"/>
            </a:pPr>
            <a:r>
              <a:rPr lang="en-US" sz="2800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rPr>
              <a:t>pixelcrypt evolved with continuous testing across image, audio, and video formats.</a:t>
            </a:r>
          </a:p>
          <a:p>
            <a:pPr algn="l" marL="604532" indent="-302266" lvl="1">
              <a:lnSpc>
                <a:spcPts val="4004"/>
              </a:lnSpc>
              <a:buFont typeface="Arial"/>
              <a:buChar char="•"/>
            </a:pPr>
            <a:r>
              <a:rPr lang="en-US" sz="2800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rPr>
              <a:t>it allows for flexible iterations, making it easy to add new steganography modules.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29098" y="4279687"/>
            <a:ext cx="7068331" cy="3185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52"/>
              </a:lnSpc>
            </a:pPr>
            <a:r>
              <a:rPr lang="en-US" b="true" sz="2800" u="sng">
                <a:solidFill>
                  <a:srgbClr val="FFFF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 - AGILE PHASES USED IN PIXELCRYPT: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77159" y="0"/>
            <a:ext cx="16933682" cy="10287000"/>
            <a:chOff x="0" y="0"/>
            <a:chExt cx="752608" cy="457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52608" cy="457200"/>
            </a:xfrm>
            <a:custGeom>
              <a:avLst/>
              <a:gdLst/>
              <a:ahLst/>
              <a:cxnLst/>
              <a:rect r="r" b="b" t="t" l="l"/>
              <a:pathLst>
                <a:path h="457200" w="752608">
                  <a:moveTo>
                    <a:pt x="45719" y="0"/>
                  </a:moveTo>
                  <a:lnTo>
                    <a:pt x="706889" y="0"/>
                  </a:lnTo>
                  <a:cubicBezTo>
                    <a:pt x="732139" y="0"/>
                    <a:pt x="752608" y="20469"/>
                    <a:pt x="752608" y="45719"/>
                  </a:cubicBezTo>
                  <a:lnTo>
                    <a:pt x="752608" y="411481"/>
                  </a:lnTo>
                  <a:cubicBezTo>
                    <a:pt x="752608" y="436731"/>
                    <a:pt x="732139" y="457200"/>
                    <a:pt x="706889" y="457200"/>
                  </a:cubicBezTo>
                  <a:lnTo>
                    <a:pt x="45719" y="457200"/>
                  </a:lnTo>
                  <a:cubicBezTo>
                    <a:pt x="20469" y="457200"/>
                    <a:pt x="0" y="436731"/>
                    <a:pt x="0" y="411481"/>
                  </a:cubicBezTo>
                  <a:lnTo>
                    <a:pt x="0" y="45719"/>
                  </a:lnTo>
                  <a:cubicBezTo>
                    <a:pt x="0" y="20469"/>
                    <a:pt x="20469" y="0"/>
                    <a:pt x="4571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752608" cy="495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410209" indent="-205105" lvl="1">
                <a:lnSpc>
                  <a:spcPts val="2659"/>
                </a:lnSpc>
                <a:buFont typeface="Arial"/>
                <a:buChar char="•"/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784685" y="1670712"/>
            <a:ext cx="16718631" cy="6945577"/>
          </a:xfrm>
          <a:custGeom>
            <a:avLst/>
            <a:gdLst/>
            <a:ahLst/>
            <a:cxnLst/>
            <a:rect r="r" b="b" t="t" l="l"/>
            <a:pathLst>
              <a:path h="6945577" w="16718631">
                <a:moveTo>
                  <a:pt x="0" y="0"/>
                </a:moveTo>
                <a:lnTo>
                  <a:pt x="16718630" y="0"/>
                </a:lnTo>
                <a:lnTo>
                  <a:pt x="16718630" y="6945576"/>
                </a:lnTo>
                <a:lnTo>
                  <a:pt x="0" y="694557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167128" y="545972"/>
            <a:ext cx="8849648" cy="4827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4"/>
              </a:lnSpc>
            </a:pPr>
            <a:r>
              <a:rPr lang="en-US" b="true" sz="4100" u="sng">
                <a:solidFill>
                  <a:srgbClr val="FFFF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SYSTEM ARCHITECTURE :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77159" y="0"/>
            <a:ext cx="16933682" cy="10287000"/>
            <a:chOff x="0" y="0"/>
            <a:chExt cx="752608" cy="457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52608" cy="457200"/>
            </a:xfrm>
            <a:custGeom>
              <a:avLst/>
              <a:gdLst/>
              <a:ahLst/>
              <a:cxnLst/>
              <a:rect r="r" b="b" t="t" l="l"/>
              <a:pathLst>
                <a:path h="457200" w="752608">
                  <a:moveTo>
                    <a:pt x="45719" y="0"/>
                  </a:moveTo>
                  <a:lnTo>
                    <a:pt x="706889" y="0"/>
                  </a:lnTo>
                  <a:cubicBezTo>
                    <a:pt x="732139" y="0"/>
                    <a:pt x="752608" y="20469"/>
                    <a:pt x="752608" y="45719"/>
                  </a:cubicBezTo>
                  <a:lnTo>
                    <a:pt x="752608" y="411481"/>
                  </a:lnTo>
                  <a:cubicBezTo>
                    <a:pt x="752608" y="436731"/>
                    <a:pt x="732139" y="457200"/>
                    <a:pt x="706889" y="457200"/>
                  </a:cubicBezTo>
                  <a:lnTo>
                    <a:pt x="45719" y="457200"/>
                  </a:lnTo>
                  <a:cubicBezTo>
                    <a:pt x="20469" y="457200"/>
                    <a:pt x="0" y="436731"/>
                    <a:pt x="0" y="411481"/>
                  </a:cubicBezTo>
                  <a:lnTo>
                    <a:pt x="0" y="45719"/>
                  </a:lnTo>
                  <a:cubicBezTo>
                    <a:pt x="0" y="20469"/>
                    <a:pt x="20469" y="0"/>
                    <a:pt x="4571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752608" cy="495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410209" indent="-205105" lvl="1">
                <a:lnSpc>
                  <a:spcPts val="2659"/>
                </a:lnSpc>
                <a:buFont typeface="Arial"/>
                <a:buChar char="•"/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229098" y="5778079"/>
            <a:ext cx="15272595" cy="2967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04518" indent="-302259" lvl="1">
              <a:lnSpc>
                <a:spcPts val="3919"/>
              </a:lnSpc>
              <a:buAutoNum type="arabicPeriod" startAt="1"/>
            </a:pPr>
            <a:r>
              <a:rPr lang="en-US" b="true" sz="2799">
                <a:solidFill>
                  <a:srgbClr val="FFFFFF"/>
                </a:solidFill>
                <a:latin typeface="Ubuntu Bold"/>
                <a:ea typeface="Ubuntu Bold"/>
                <a:cs typeface="Ubuntu Bold"/>
                <a:sym typeface="Ubuntu Bold"/>
              </a:rPr>
              <a:t>User uploads file and enters secret message.</a:t>
            </a:r>
          </a:p>
          <a:p>
            <a:pPr algn="just" marL="604518" indent="-302259" lvl="1">
              <a:lnSpc>
                <a:spcPts val="3919"/>
              </a:lnSpc>
              <a:buAutoNum type="arabicPeriod" startAt="1"/>
            </a:pPr>
            <a:r>
              <a:rPr lang="en-US" b="true" sz="2799">
                <a:solidFill>
                  <a:srgbClr val="FFFFFF"/>
                </a:solidFill>
                <a:latin typeface="Ubuntu Bold"/>
                <a:ea typeface="Ubuntu Bold"/>
                <a:cs typeface="Ubuntu Bold"/>
                <a:sym typeface="Ubuntu Bold"/>
              </a:rPr>
              <a:t>System encrypts message (AES-256).</a:t>
            </a:r>
          </a:p>
          <a:p>
            <a:pPr algn="just" marL="604518" indent="-302259" lvl="1">
              <a:lnSpc>
                <a:spcPts val="3919"/>
              </a:lnSpc>
              <a:buAutoNum type="arabicPeriod" startAt="1"/>
            </a:pPr>
            <a:r>
              <a:rPr lang="en-US" b="true" sz="2799">
                <a:solidFill>
                  <a:srgbClr val="FFFFFF"/>
                </a:solidFill>
                <a:latin typeface="Ubuntu Bold"/>
                <a:ea typeface="Ubuntu Bold"/>
                <a:cs typeface="Ubuntu Bold"/>
                <a:sym typeface="Ubuntu Bold"/>
              </a:rPr>
              <a:t>Embeds encrypted data into carrier (image/audio/video).</a:t>
            </a:r>
          </a:p>
          <a:p>
            <a:pPr algn="just" marL="604518" indent="-302259" lvl="1">
              <a:lnSpc>
                <a:spcPts val="3919"/>
              </a:lnSpc>
              <a:buAutoNum type="arabicPeriod" startAt="1"/>
            </a:pPr>
            <a:r>
              <a:rPr lang="en-US" b="true" sz="2799">
                <a:solidFill>
                  <a:srgbClr val="FFFFFF"/>
                </a:solidFill>
                <a:latin typeface="Ubuntu Bold"/>
                <a:ea typeface="Ubuntu Bold"/>
                <a:cs typeface="Ubuntu Bold"/>
                <a:sym typeface="Ubuntu Bold"/>
              </a:rPr>
              <a:t>Outputs encrypted media file.</a:t>
            </a:r>
          </a:p>
          <a:p>
            <a:pPr algn="just" marL="604518" indent="-302259" lvl="1">
              <a:lnSpc>
                <a:spcPts val="3919"/>
              </a:lnSpc>
              <a:buAutoNum type="arabicPeriod" startAt="1"/>
            </a:pPr>
            <a:r>
              <a:rPr lang="en-US" b="true" sz="2799">
                <a:solidFill>
                  <a:srgbClr val="FFFFFF"/>
                </a:solidFill>
                <a:latin typeface="Ubuntu Bold"/>
                <a:ea typeface="Ubuntu Bold"/>
                <a:cs typeface="Ubuntu Bold"/>
                <a:sym typeface="Ubuntu Bold"/>
              </a:rPr>
              <a:t>Receiver uploads encrypted file and enters password → decrypted message appears if password matches.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29098" y="854011"/>
            <a:ext cx="8849648" cy="4827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4"/>
              </a:lnSpc>
            </a:pPr>
            <a:r>
              <a:rPr lang="en-US" b="true" sz="4100" u="sng">
                <a:solidFill>
                  <a:srgbClr val="FFFF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SYSTEM DESIGN – 0-LEVEL DFD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29098" y="1841672"/>
            <a:ext cx="6289005" cy="3185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52"/>
              </a:lnSpc>
            </a:pPr>
            <a:r>
              <a:rPr lang="en-US" b="true" sz="2800" u="sng">
                <a:solidFill>
                  <a:srgbClr val="FFFF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ENTITIES: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29098" y="2360216"/>
            <a:ext cx="16181345" cy="2013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32" indent="-302266" lvl="1">
              <a:lnSpc>
                <a:spcPts val="4004"/>
              </a:lnSpc>
              <a:buFont typeface="Arial"/>
              <a:buChar char="•"/>
            </a:pPr>
            <a:r>
              <a:rPr lang="en-US" b="true" sz="2800">
                <a:solidFill>
                  <a:srgbClr val="FFFFFF"/>
                </a:solidFill>
                <a:latin typeface="Ubuntu Bold"/>
                <a:ea typeface="Ubuntu Bold"/>
                <a:cs typeface="Ubuntu Bold"/>
                <a:sym typeface="Ubuntu Bold"/>
              </a:rPr>
              <a:t>User: </a:t>
            </a:r>
            <a:r>
              <a:rPr lang="en-US" sz="2800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rPr>
              <a:t>Uploads image/audio/video and secret message + password.</a:t>
            </a:r>
          </a:p>
          <a:p>
            <a:pPr algn="l" marL="604532" indent="-302266" lvl="1">
              <a:lnSpc>
                <a:spcPts val="4004"/>
              </a:lnSpc>
              <a:buFont typeface="Arial"/>
              <a:buChar char="•"/>
            </a:pPr>
            <a:r>
              <a:rPr lang="en-US" b="true" sz="2800">
                <a:solidFill>
                  <a:srgbClr val="FFFFFF"/>
                </a:solidFill>
                <a:latin typeface="Ubuntu Bold"/>
                <a:ea typeface="Ubuntu Bold"/>
                <a:cs typeface="Ubuntu Bold"/>
                <a:sym typeface="Ubuntu Bold"/>
              </a:rPr>
              <a:t>PixelCrypt System: </a:t>
            </a:r>
            <a:r>
              <a:rPr lang="en-US" sz="2800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rPr>
              <a:t>Performs encryption + embedding.</a:t>
            </a:r>
          </a:p>
          <a:p>
            <a:pPr algn="l" marL="604532" indent="-302266" lvl="1">
              <a:lnSpc>
                <a:spcPts val="4004"/>
              </a:lnSpc>
              <a:buFont typeface="Arial"/>
              <a:buChar char="•"/>
            </a:pPr>
            <a:r>
              <a:rPr lang="en-US" b="true" sz="2800">
                <a:solidFill>
                  <a:srgbClr val="FFFFFF"/>
                </a:solidFill>
                <a:latin typeface="Ubuntu Bold"/>
                <a:ea typeface="Ubuntu Bold"/>
                <a:cs typeface="Ubuntu Bold"/>
                <a:sym typeface="Ubuntu Bold"/>
              </a:rPr>
              <a:t>Output: </a:t>
            </a:r>
            <a:r>
              <a:rPr lang="en-US" sz="2800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rPr>
              <a:t>Encrypted file (image, audio, or video) containing hidden message.</a:t>
            </a:r>
          </a:p>
          <a:p>
            <a:pPr algn="l" marL="604532" indent="-302266" lvl="1">
              <a:lnSpc>
                <a:spcPts val="4004"/>
              </a:lnSpc>
              <a:buFont typeface="Arial"/>
              <a:buChar char="•"/>
            </a:pPr>
            <a:r>
              <a:rPr lang="en-US" b="true" sz="2800">
                <a:solidFill>
                  <a:srgbClr val="FFFFFF"/>
                </a:solidFill>
                <a:latin typeface="Ubuntu Bold"/>
                <a:ea typeface="Ubuntu Bold"/>
                <a:cs typeface="Ubuntu Bold"/>
                <a:sym typeface="Ubuntu Bold"/>
              </a:rPr>
              <a:t>Rece</a:t>
            </a:r>
            <a:r>
              <a:rPr lang="en-US" b="true" sz="2800">
                <a:solidFill>
                  <a:srgbClr val="FFFFFF"/>
                </a:solidFill>
                <a:latin typeface="Ubuntu Bold"/>
                <a:ea typeface="Ubuntu Bold"/>
                <a:cs typeface="Ubuntu Bold"/>
                <a:sym typeface="Ubuntu Bold"/>
              </a:rPr>
              <a:t>iver: </a:t>
            </a:r>
            <a:r>
              <a:rPr lang="en-US" sz="2800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rPr>
              <a:t>Uploads that file → chooses “Decode” → enters password → retrieves hidden text.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29098" y="5248275"/>
            <a:ext cx="7068331" cy="3185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52"/>
              </a:lnSpc>
            </a:pPr>
            <a:r>
              <a:rPr lang="en-US" b="true" sz="2800" u="sng">
                <a:solidFill>
                  <a:srgbClr val="FFFF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FLOW: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77159" y="0"/>
            <a:ext cx="16933682" cy="10287000"/>
            <a:chOff x="0" y="0"/>
            <a:chExt cx="752608" cy="457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52608" cy="457200"/>
            </a:xfrm>
            <a:custGeom>
              <a:avLst/>
              <a:gdLst/>
              <a:ahLst/>
              <a:cxnLst/>
              <a:rect r="r" b="b" t="t" l="l"/>
              <a:pathLst>
                <a:path h="457200" w="752608">
                  <a:moveTo>
                    <a:pt x="45719" y="0"/>
                  </a:moveTo>
                  <a:lnTo>
                    <a:pt x="706889" y="0"/>
                  </a:lnTo>
                  <a:cubicBezTo>
                    <a:pt x="732139" y="0"/>
                    <a:pt x="752608" y="20469"/>
                    <a:pt x="752608" y="45719"/>
                  </a:cubicBezTo>
                  <a:lnTo>
                    <a:pt x="752608" y="411481"/>
                  </a:lnTo>
                  <a:cubicBezTo>
                    <a:pt x="752608" y="436731"/>
                    <a:pt x="732139" y="457200"/>
                    <a:pt x="706889" y="457200"/>
                  </a:cubicBezTo>
                  <a:lnTo>
                    <a:pt x="45719" y="457200"/>
                  </a:lnTo>
                  <a:cubicBezTo>
                    <a:pt x="20469" y="457200"/>
                    <a:pt x="0" y="436731"/>
                    <a:pt x="0" y="411481"/>
                  </a:cubicBezTo>
                  <a:lnTo>
                    <a:pt x="0" y="45719"/>
                  </a:lnTo>
                  <a:cubicBezTo>
                    <a:pt x="0" y="20469"/>
                    <a:pt x="20469" y="0"/>
                    <a:pt x="4571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752608" cy="495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410209" indent="-205105" lvl="1">
                <a:lnSpc>
                  <a:spcPts val="2659"/>
                </a:lnSpc>
                <a:buFont typeface="Arial"/>
                <a:buChar char="•"/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677159" y="2970487"/>
            <a:ext cx="16933682" cy="4801906"/>
          </a:xfrm>
          <a:custGeom>
            <a:avLst/>
            <a:gdLst/>
            <a:ahLst/>
            <a:cxnLst/>
            <a:rect r="r" b="b" t="t" l="l"/>
            <a:pathLst>
              <a:path h="4801906" w="16933682">
                <a:moveTo>
                  <a:pt x="0" y="0"/>
                </a:moveTo>
                <a:lnTo>
                  <a:pt x="16933682" y="0"/>
                </a:lnTo>
                <a:lnTo>
                  <a:pt x="16933682" y="4801905"/>
                </a:lnTo>
                <a:lnTo>
                  <a:pt x="0" y="480190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976" r="0" b="-1584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229098" y="854011"/>
            <a:ext cx="8849648" cy="4827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4"/>
              </a:lnSpc>
            </a:pPr>
            <a:r>
              <a:rPr lang="en-US" b="true" sz="4100" u="sng">
                <a:solidFill>
                  <a:srgbClr val="FFFF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SYSTEM DESIGN – 0-LEVEL DFD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77159" y="0"/>
            <a:ext cx="16933682" cy="10287000"/>
            <a:chOff x="0" y="0"/>
            <a:chExt cx="752608" cy="457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52608" cy="457200"/>
            </a:xfrm>
            <a:custGeom>
              <a:avLst/>
              <a:gdLst/>
              <a:ahLst/>
              <a:cxnLst/>
              <a:rect r="r" b="b" t="t" l="l"/>
              <a:pathLst>
                <a:path h="457200" w="752608">
                  <a:moveTo>
                    <a:pt x="45719" y="0"/>
                  </a:moveTo>
                  <a:lnTo>
                    <a:pt x="706889" y="0"/>
                  </a:lnTo>
                  <a:cubicBezTo>
                    <a:pt x="732139" y="0"/>
                    <a:pt x="752608" y="20469"/>
                    <a:pt x="752608" y="45719"/>
                  </a:cubicBezTo>
                  <a:lnTo>
                    <a:pt x="752608" y="411481"/>
                  </a:lnTo>
                  <a:cubicBezTo>
                    <a:pt x="752608" y="436731"/>
                    <a:pt x="732139" y="457200"/>
                    <a:pt x="706889" y="457200"/>
                  </a:cubicBezTo>
                  <a:lnTo>
                    <a:pt x="45719" y="457200"/>
                  </a:lnTo>
                  <a:cubicBezTo>
                    <a:pt x="20469" y="457200"/>
                    <a:pt x="0" y="436731"/>
                    <a:pt x="0" y="411481"/>
                  </a:cubicBezTo>
                  <a:lnTo>
                    <a:pt x="0" y="45719"/>
                  </a:lnTo>
                  <a:cubicBezTo>
                    <a:pt x="0" y="20469"/>
                    <a:pt x="20469" y="0"/>
                    <a:pt x="4571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752608" cy="495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410209" indent="-205105" lvl="1">
                <a:lnSpc>
                  <a:spcPts val="2659"/>
                </a:lnSpc>
                <a:buFont typeface="Arial"/>
                <a:buChar char="•"/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229098" y="473771"/>
            <a:ext cx="8849648" cy="4827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4"/>
              </a:lnSpc>
            </a:pPr>
            <a:r>
              <a:rPr lang="en-US" b="true" sz="4100" u="sng">
                <a:solidFill>
                  <a:srgbClr val="FFFF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SYSTEM DESIGN – 1-LEVEL DFD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29098" y="1478253"/>
            <a:ext cx="6289005" cy="3185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52"/>
              </a:lnSpc>
            </a:pPr>
            <a:r>
              <a:rPr lang="en-US" b="true" sz="2800" u="sng">
                <a:solidFill>
                  <a:srgbClr val="FFFF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DETAILED PROCESS: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53328" y="2003952"/>
            <a:ext cx="16181345" cy="7566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04"/>
              </a:lnSpc>
            </a:pPr>
            <a:r>
              <a:rPr lang="en-US" sz="2800" b="true">
                <a:solidFill>
                  <a:srgbClr val="FFFFFF"/>
                </a:solidFill>
                <a:latin typeface="Ubuntu Bold"/>
                <a:ea typeface="Ubuntu Bold"/>
                <a:cs typeface="Ubuntu Bold"/>
                <a:sym typeface="Ubuntu Bold"/>
              </a:rPr>
              <a:t>1. Input Validation:</a:t>
            </a:r>
          </a:p>
          <a:p>
            <a:pPr algn="l" marL="604532" indent="-302266" lvl="1">
              <a:lnSpc>
                <a:spcPts val="4004"/>
              </a:lnSpc>
              <a:buFont typeface="Arial"/>
              <a:buChar char="•"/>
            </a:pPr>
            <a:r>
              <a:rPr lang="en-US" sz="2800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rPr>
              <a:t>Check</a:t>
            </a:r>
            <a:r>
              <a:rPr lang="en-US" sz="2800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rPr>
              <a:t>s file type (image/audio/video).</a:t>
            </a:r>
          </a:p>
          <a:p>
            <a:pPr algn="l" marL="604532" indent="-302266" lvl="1">
              <a:lnSpc>
                <a:spcPts val="4004"/>
              </a:lnSpc>
              <a:buFont typeface="Arial"/>
              <a:buChar char="•"/>
            </a:pPr>
            <a:r>
              <a:rPr lang="en-US" sz="2800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rPr>
              <a:t>Validates message length and suggests max length based on carrier size.</a:t>
            </a:r>
          </a:p>
          <a:p>
            <a:pPr algn="l">
              <a:lnSpc>
                <a:spcPts val="4004"/>
              </a:lnSpc>
            </a:pPr>
            <a:r>
              <a:rPr lang="en-US" sz="2800" b="true">
                <a:solidFill>
                  <a:srgbClr val="FFFFFF"/>
                </a:solidFill>
                <a:latin typeface="Ubuntu Bold"/>
                <a:ea typeface="Ubuntu Bold"/>
                <a:cs typeface="Ubuntu Bold"/>
                <a:sym typeface="Ubuntu Bold"/>
              </a:rPr>
              <a:t>2. </a:t>
            </a:r>
            <a:r>
              <a:rPr lang="en-US" sz="2800" b="true">
                <a:solidFill>
                  <a:srgbClr val="FFFFFF"/>
                </a:solidFill>
                <a:latin typeface="Ubuntu Bold"/>
                <a:ea typeface="Ubuntu Bold"/>
                <a:cs typeface="Ubuntu Bold"/>
                <a:sym typeface="Ubuntu Bold"/>
              </a:rPr>
              <a:t>Encryption Module:</a:t>
            </a:r>
          </a:p>
          <a:p>
            <a:pPr algn="l" marL="604532" indent="-302266" lvl="1">
              <a:lnSpc>
                <a:spcPts val="4004"/>
              </a:lnSpc>
              <a:buFont typeface="Arial"/>
              <a:buChar char="•"/>
            </a:pPr>
            <a:r>
              <a:rPr lang="en-US" sz="2800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rPr>
              <a:t>Encrypts message using AES-256 algorithm.</a:t>
            </a:r>
          </a:p>
          <a:p>
            <a:pPr algn="l" marL="604532" indent="-302266" lvl="1">
              <a:lnSpc>
                <a:spcPts val="4004"/>
              </a:lnSpc>
              <a:buFont typeface="Arial"/>
              <a:buChar char="•"/>
            </a:pPr>
            <a:r>
              <a:rPr lang="en-US" sz="2800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rPr>
              <a:t>Derives encryption key from password using PBKDF2 + salt (for military-grade protection).</a:t>
            </a:r>
          </a:p>
          <a:p>
            <a:pPr algn="l">
              <a:lnSpc>
                <a:spcPts val="4004"/>
              </a:lnSpc>
            </a:pPr>
            <a:r>
              <a:rPr lang="en-US" sz="2800" b="true">
                <a:solidFill>
                  <a:srgbClr val="FFFFFF"/>
                </a:solidFill>
                <a:latin typeface="Ubuntu Bold"/>
                <a:ea typeface="Ubuntu Bold"/>
                <a:cs typeface="Ubuntu Bold"/>
                <a:sym typeface="Ubuntu Bold"/>
              </a:rPr>
              <a:t>3. Steganography Engine:</a:t>
            </a:r>
          </a:p>
          <a:p>
            <a:pPr algn="l" marL="604532" indent="-302266" lvl="1">
              <a:lnSpc>
                <a:spcPts val="4004"/>
              </a:lnSpc>
              <a:buFont typeface="Arial"/>
              <a:buChar char="•"/>
            </a:pPr>
            <a:r>
              <a:rPr lang="en-US" b="true" sz="2800">
                <a:solidFill>
                  <a:srgbClr val="FFFFFF"/>
                </a:solidFill>
                <a:latin typeface="Ubuntu Bold"/>
                <a:ea typeface="Ubuntu Bold"/>
                <a:cs typeface="Ubuntu Bold"/>
                <a:sym typeface="Ubuntu Bold"/>
              </a:rPr>
              <a:t>Embeds encrypted data:</a:t>
            </a:r>
          </a:p>
          <a:p>
            <a:pPr algn="l">
              <a:lnSpc>
                <a:spcPts val="4004"/>
              </a:lnSpc>
            </a:pPr>
            <a:r>
              <a:rPr lang="en-US" sz="2800" b="true">
                <a:solidFill>
                  <a:srgbClr val="FFFFFF"/>
                </a:solidFill>
                <a:latin typeface="Ubuntu Bold"/>
                <a:ea typeface="Ubuntu Bold"/>
                <a:cs typeface="Ubuntu Bold"/>
                <a:sym typeface="Ubuntu Bold"/>
              </a:rPr>
              <a:t>               - </a:t>
            </a:r>
            <a:r>
              <a:rPr lang="en-US" sz="2800" b="true">
                <a:solidFill>
                  <a:srgbClr val="FFFFFF"/>
                </a:solidFill>
                <a:latin typeface="Ubuntu Bold"/>
                <a:ea typeface="Ubuntu Bold"/>
                <a:cs typeface="Ubuntu Bold"/>
                <a:sym typeface="Ubuntu Bold"/>
              </a:rPr>
              <a:t>Images</a:t>
            </a:r>
            <a:r>
              <a:rPr lang="en-US" sz="2800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rPr>
              <a:t>: via Pillow (LSB pixel manipulation)</a:t>
            </a:r>
          </a:p>
          <a:p>
            <a:pPr algn="l">
              <a:lnSpc>
                <a:spcPts val="4004"/>
              </a:lnSpc>
            </a:pPr>
            <a:r>
              <a:rPr lang="en-US" sz="2800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rPr>
              <a:t>              </a:t>
            </a:r>
            <a:r>
              <a:rPr lang="en-US" sz="2800" b="true">
                <a:solidFill>
                  <a:srgbClr val="FFFFFF"/>
                </a:solidFill>
                <a:latin typeface="Ubuntu Bold"/>
                <a:ea typeface="Ubuntu Bold"/>
                <a:cs typeface="Ubuntu Bold"/>
                <a:sym typeface="Ubuntu Bold"/>
              </a:rPr>
              <a:t> - </a:t>
            </a:r>
            <a:r>
              <a:rPr lang="en-US" sz="2800" b="true">
                <a:solidFill>
                  <a:srgbClr val="FFFFFF"/>
                </a:solidFill>
                <a:latin typeface="Ubuntu Bold"/>
                <a:ea typeface="Ubuntu Bold"/>
                <a:cs typeface="Ubuntu Bold"/>
                <a:sym typeface="Ubuntu Bold"/>
              </a:rPr>
              <a:t>Audio</a:t>
            </a:r>
            <a:r>
              <a:rPr lang="en-US" sz="2800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rPr>
              <a:t>: via Wave library (altering sample bits)</a:t>
            </a:r>
          </a:p>
          <a:p>
            <a:pPr algn="l">
              <a:lnSpc>
                <a:spcPts val="4004"/>
              </a:lnSpc>
            </a:pPr>
            <a:r>
              <a:rPr lang="en-US" sz="2800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rPr>
              <a:t>             </a:t>
            </a:r>
            <a:r>
              <a:rPr lang="en-US" sz="2800" b="true">
                <a:solidFill>
                  <a:srgbClr val="FFFFFF"/>
                </a:solidFill>
                <a:latin typeface="Ubuntu Bold"/>
                <a:ea typeface="Ubuntu Bold"/>
                <a:cs typeface="Ubuntu Bold"/>
                <a:sym typeface="Ubuntu Bold"/>
              </a:rPr>
              <a:t>  - Video</a:t>
            </a:r>
            <a:r>
              <a:rPr lang="en-US" sz="2800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rPr>
              <a:t>: via FFmpeg + OpenCV (frame-level embedd</a:t>
            </a:r>
            <a:r>
              <a:rPr lang="en-US" sz="2800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rPr>
              <a:t>ing)</a:t>
            </a:r>
          </a:p>
          <a:p>
            <a:pPr algn="l">
              <a:lnSpc>
                <a:spcPts val="4004"/>
              </a:lnSpc>
            </a:pPr>
            <a:r>
              <a:rPr lang="en-US" sz="2800" b="true">
                <a:solidFill>
                  <a:srgbClr val="FFFFFF"/>
                </a:solidFill>
                <a:latin typeface="Ubuntu Bold"/>
                <a:ea typeface="Ubuntu Bold"/>
                <a:cs typeface="Ubuntu Bold"/>
                <a:sym typeface="Ubuntu Bold"/>
              </a:rPr>
              <a:t>4. </a:t>
            </a:r>
            <a:r>
              <a:rPr lang="en-US" sz="2800" b="true">
                <a:solidFill>
                  <a:srgbClr val="FFFFFF"/>
                </a:solidFill>
                <a:latin typeface="Ubuntu Bold"/>
                <a:ea typeface="Ubuntu Bold"/>
                <a:cs typeface="Ubuntu Bold"/>
                <a:sym typeface="Ubuntu Bold"/>
              </a:rPr>
              <a:t>Output Generation:</a:t>
            </a:r>
          </a:p>
          <a:p>
            <a:pPr algn="l" marL="604532" indent="-302266" lvl="1">
              <a:lnSpc>
                <a:spcPts val="4004"/>
              </a:lnSpc>
              <a:buFont typeface="Arial"/>
              <a:buChar char="•"/>
            </a:pPr>
            <a:r>
              <a:rPr lang="en-US" sz="2800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rPr>
              <a:t>Produces encoded file (same format as original).</a:t>
            </a:r>
          </a:p>
          <a:p>
            <a:pPr algn="l">
              <a:lnSpc>
                <a:spcPts val="4004"/>
              </a:lnSpc>
            </a:pPr>
            <a:r>
              <a:rPr lang="en-US" sz="2800" b="true">
                <a:solidFill>
                  <a:srgbClr val="FFFFFF"/>
                </a:solidFill>
                <a:latin typeface="Ubuntu Bold"/>
                <a:ea typeface="Ubuntu Bold"/>
                <a:cs typeface="Ubuntu Bold"/>
                <a:sym typeface="Ubuntu Bold"/>
              </a:rPr>
              <a:t>5. </a:t>
            </a:r>
            <a:r>
              <a:rPr lang="en-US" sz="2800" b="true">
                <a:solidFill>
                  <a:srgbClr val="FFFFFF"/>
                </a:solidFill>
                <a:latin typeface="Ubuntu Bold"/>
                <a:ea typeface="Ubuntu Bold"/>
                <a:cs typeface="Ubuntu Bold"/>
                <a:sym typeface="Ubuntu Bold"/>
              </a:rPr>
              <a:t>Decoder Module:</a:t>
            </a:r>
          </a:p>
          <a:p>
            <a:pPr algn="l" marL="604532" indent="-302266" lvl="1">
              <a:lnSpc>
                <a:spcPts val="4004"/>
              </a:lnSpc>
              <a:buFont typeface="Arial"/>
              <a:buChar char="•"/>
            </a:pPr>
            <a:r>
              <a:rPr lang="en-US" sz="2800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rPr>
              <a:t>Extracts encrypted data and decrypts message using password.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77159" y="0"/>
            <a:ext cx="16933682" cy="10287000"/>
            <a:chOff x="0" y="0"/>
            <a:chExt cx="752608" cy="457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52608" cy="457200"/>
            </a:xfrm>
            <a:custGeom>
              <a:avLst/>
              <a:gdLst/>
              <a:ahLst/>
              <a:cxnLst/>
              <a:rect r="r" b="b" t="t" l="l"/>
              <a:pathLst>
                <a:path h="457200" w="752608">
                  <a:moveTo>
                    <a:pt x="45719" y="0"/>
                  </a:moveTo>
                  <a:lnTo>
                    <a:pt x="706889" y="0"/>
                  </a:lnTo>
                  <a:cubicBezTo>
                    <a:pt x="732139" y="0"/>
                    <a:pt x="752608" y="20469"/>
                    <a:pt x="752608" y="45719"/>
                  </a:cubicBezTo>
                  <a:lnTo>
                    <a:pt x="752608" y="411481"/>
                  </a:lnTo>
                  <a:cubicBezTo>
                    <a:pt x="752608" y="436731"/>
                    <a:pt x="732139" y="457200"/>
                    <a:pt x="706889" y="457200"/>
                  </a:cubicBezTo>
                  <a:lnTo>
                    <a:pt x="45719" y="457200"/>
                  </a:lnTo>
                  <a:cubicBezTo>
                    <a:pt x="20469" y="457200"/>
                    <a:pt x="0" y="436731"/>
                    <a:pt x="0" y="411481"/>
                  </a:cubicBezTo>
                  <a:lnTo>
                    <a:pt x="0" y="45719"/>
                  </a:lnTo>
                  <a:cubicBezTo>
                    <a:pt x="0" y="20469"/>
                    <a:pt x="20469" y="0"/>
                    <a:pt x="4571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752608" cy="495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410209" indent="-205105" lvl="1">
                <a:lnSpc>
                  <a:spcPts val="2659"/>
                </a:lnSpc>
                <a:buFont typeface="Arial"/>
                <a:buChar char="•"/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6384600" y="91325"/>
            <a:ext cx="4556981" cy="10104349"/>
          </a:xfrm>
          <a:custGeom>
            <a:avLst/>
            <a:gdLst/>
            <a:ahLst/>
            <a:cxnLst/>
            <a:rect r="r" b="b" t="t" l="l"/>
            <a:pathLst>
              <a:path h="10104349" w="4556981">
                <a:moveTo>
                  <a:pt x="0" y="0"/>
                </a:moveTo>
                <a:lnTo>
                  <a:pt x="4556981" y="0"/>
                </a:lnTo>
                <a:lnTo>
                  <a:pt x="4556981" y="10104350"/>
                </a:lnTo>
                <a:lnTo>
                  <a:pt x="0" y="101043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662" b="0"/>
            </a:stretch>
          </a:blipFill>
        </p:spPr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77159" y="0"/>
            <a:ext cx="16933682" cy="10287000"/>
            <a:chOff x="0" y="0"/>
            <a:chExt cx="752608" cy="457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52608" cy="457200"/>
            </a:xfrm>
            <a:custGeom>
              <a:avLst/>
              <a:gdLst/>
              <a:ahLst/>
              <a:cxnLst/>
              <a:rect r="r" b="b" t="t" l="l"/>
              <a:pathLst>
                <a:path h="457200" w="752608">
                  <a:moveTo>
                    <a:pt x="45719" y="0"/>
                  </a:moveTo>
                  <a:lnTo>
                    <a:pt x="706889" y="0"/>
                  </a:lnTo>
                  <a:cubicBezTo>
                    <a:pt x="732139" y="0"/>
                    <a:pt x="752608" y="20469"/>
                    <a:pt x="752608" y="45719"/>
                  </a:cubicBezTo>
                  <a:lnTo>
                    <a:pt x="752608" y="411481"/>
                  </a:lnTo>
                  <a:cubicBezTo>
                    <a:pt x="752608" y="436731"/>
                    <a:pt x="732139" y="457200"/>
                    <a:pt x="706889" y="457200"/>
                  </a:cubicBezTo>
                  <a:lnTo>
                    <a:pt x="45719" y="457200"/>
                  </a:lnTo>
                  <a:cubicBezTo>
                    <a:pt x="20469" y="457200"/>
                    <a:pt x="0" y="436731"/>
                    <a:pt x="0" y="411481"/>
                  </a:cubicBezTo>
                  <a:lnTo>
                    <a:pt x="0" y="45719"/>
                  </a:lnTo>
                  <a:cubicBezTo>
                    <a:pt x="0" y="20469"/>
                    <a:pt x="20469" y="0"/>
                    <a:pt x="4571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752608" cy="495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410209" indent="-205105" lvl="1">
                <a:lnSpc>
                  <a:spcPts val="2659"/>
                </a:lnSpc>
                <a:buFont typeface="Arial"/>
                <a:buChar char="•"/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2921259" y="2562144"/>
            <a:ext cx="12323240" cy="7401026"/>
          </a:xfrm>
          <a:custGeom>
            <a:avLst/>
            <a:gdLst/>
            <a:ahLst/>
            <a:cxnLst/>
            <a:rect r="r" b="b" t="t" l="l"/>
            <a:pathLst>
              <a:path h="7401026" w="12323240">
                <a:moveTo>
                  <a:pt x="0" y="0"/>
                </a:moveTo>
                <a:lnTo>
                  <a:pt x="12323240" y="0"/>
                </a:lnTo>
                <a:lnTo>
                  <a:pt x="12323240" y="7401026"/>
                </a:lnTo>
                <a:lnTo>
                  <a:pt x="0" y="740102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229098" y="473771"/>
            <a:ext cx="8849648" cy="4827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4"/>
              </a:lnSpc>
            </a:pPr>
            <a:r>
              <a:rPr lang="en-US" b="true" sz="4100" u="sng">
                <a:solidFill>
                  <a:srgbClr val="FFFF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USE CASE DIAGRAM: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29098" y="1235631"/>
            <a:ext cx="15707561" cy="10026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60"/>
              </a:lnSpc>
            </a:pPr>
            <a:r>
              <a:rPr lang="en-US" b="true" sz="2900" u="sng">
                <a:solidFill>
                  <a:srgbClr val="FFFF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Actors:</a:t>
            </a:r>
            <a:r>
              <a:rPr lang="en-US" b="true" sz="2900">
                <a:solidFill>
                  <a:srgbClr val="FFFF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 </a:t>
            </a:r>
            <a:r>
              <a:rPr lang="en-US" sz="2900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User, Receiver</a:t>
            </a:r>
          </a:p>
          <a:p>
            <a:pPr algn="l">
              <a:lnSpc>
                <a:spcPts val="4060"/>
              </a:lnSpc>
            </a:pPr>
            <a:r>
              <a:rPr lang="en-US" b="true" sz="2900" u="sng">
                <a:solidFill>
                  <a:srgbClr val="FFFFFF"/>
                </a:solidFill>
                <a:latin typeface="Ubuntu Bold"/>
                <a:ea typeface="Ubuntu Bold"/>
                <a:cs typeface="Ubuntu Bold"/>
                <a:sym typeface="Ubuntu Bold"/>
              </a:rPr>
              <a:t>Use Cases</a:t>
            </a:r>
            <a:r>
              <a:rPr lang="en-US" b="true" sz="2900">
                <a:solidFill>
                  <a:srgbClr val="FFFFFF"/>
                </a:solidFill>
                <a:latin typeface="Ubuntu Bold"/>
                <a:ea typeface="Ubuntu Bold"/>
                <a:cs typeface="Ubuntu Bold"/>
                <a:sym typeface="Ubuntu Bold"/>
              </a:rPr>
              <a:t>: </a:t>
            </a:r>
            <a:r>
              <a:rPr lang="en-US" sz="2900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rPr>
              <a:t>Upload File, Encode Message, Download File, Decode Message, View Secret Text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77159" y="113893"/>
            <a:ext cx="16933682" cy="10287000"/>
            <a:chOff x="0" y="0"/>
            <a:chExt cx="752608" cy="457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52608" cy="457200"/>
            </a:xfrm>
            <a:custGeom>
              <a:avLst/>
              <a:gdLst/>
              <a:ahLst/>
              <a:cxnLst/>
              <a:rect r="r" b="b" t="t" l="l"/>
              <a:pathLst>
                <a:path h="457200" w="752608">
                  <a:moveTo>
                    <a:pt x="45719" y="0"/>
                  </a:moveTo>
                  <a:lnTo>
                    <a:pt x="706889" y="0"/>
                  </a:lnTo>
                  <a:cubicBezTo>
                    <a:pt x="732139" y="0"/>
                    <a:pt x="752608" y="20469"/>
                    <a:pt x="752608" y="45719"/>
                  </a:cubicBezTo>
                  <a:lnTo>
                    <a:pt x="752608" y="411481"/>
                  </a:lnTo>
                  <a:cubicBezTo>
                    <a:pt x="752608" y="436731"/>
                    <a:pt x="732139" y="457200"/>
                    <a:pt x="706889" y="457200"/>
                  </a:cubicBezTo>
                  <a:lnTo>
                    <a:pt x="45719" y="457200"/>
                  </a:lnTo>
                  <a:cubicBezTo>
                    <a:pt x="20469" y="457200"/>
                    <a:pt x="0" y="436731"/>
                    <a:pt x="0" y="411481"/>
                  </a:cubicBezTo>
                  <a:lnTo>
                    <a:pt x="0" y="45719"/>
                  </a:lnTo>
                  <a:cubicBezTo>
                    <a:pt x="0" y="20469"/>
                    <a:pt x="20469" y="0"/>
                    <a:pt x="4571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752608" cy="495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410209" indent="-205105" lvl="1">
                <a:lnSpc>
                  <a:spcPts val="2659"/>
                </a:lnSpc>
                <a:buFont typeface="Arial"/>
                <a:buChar char="•"/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318523" y="259931"/>
            <a:ext cx="4734453" cy="9767138"/>
          </a:xfrm>
          <a:custGeom>
            <a:avLst/>
            <a:gdLst/>
            <a:ahLst/>
            <a:cxnLst/>
            <a:rect r="r" b="b" t="t" l="l"/>
            <a:pathLst>
              <a:path h="9767138" w="4734453">
                <a:moveTo>
                  <a:pt x="0" y="0"/>
                </a:moveTo>
                <a:lnTo>
                  <a:pt x="4734453" y="0"/>
                </a:lnTo>
                <a:lnTo>
                  <a:pt x="4734453" y="9767138"/>
                </a:lnTo>
                <a:lnTo>
                  <a:pt x="0" y="97671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229098" y="473771"/>
            <a:ext cx="8849648" cy="4827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4"/>
              </a:lnSpc>
            </a:pPr>
            <a:r>
              <a:rPr lang="en-US" b="true" sz="4100" u="sng">
                <a:solidFill>
                  <a:srgbClr val="FFFF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CLASS DIAGRAM :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03117" y="1247692"/>
            <a:ext cx="9101610" cy="9657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1730" indent="-310865" lvl="1">
              <a:lnSpc>
                <a:spcPts val="3801"/>
              </a:lnSpc>
              <a:buFont typeface="Arial"/>
              <a:buChar char="•"/>
            </a:pPr>
            <a:r>
              <a:rPr lang="en-US" b="true" sz="2879" u="sng">
                <a:solidFill>
                  <a:srgbClr val="FFFFFF"/>
                </a:solidFill>
                <a:latin typeface="Ubuntu Bold"/>
                <a:ea typeface="Ubuntu Bold"/>
                <a:cs typeface="Ubuntu Bold"/>
                <a:sym typeface="Ubuntu Bold"/>
              </a:rPr>
              <a:t>Classes: </a:t>
            </a:r>
            <a:r>
              <a:rPr lang="en-US" sz="2879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rPr>
              <a:t>User, EncryptionManager, StegoEngine, FileHandler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888371" y="3005680"/>
            <a:ext cx="8430153" cy="33470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1730" indent="-310865" lvl="1">
              <a:lnSpc>
                <a:spcPts val="3801"/>
              </a:lnSpc>
              <a:buFont typeface="Arial"/>
              <a:buChar char="•"/>
            </a:pPr>
            <a:r>
              <a:rPr lang="en-US" b="true" sz="2879" u="sng">
                <a:solidFill>
                  <a:srgbClr val="FFFFFF"/>
                </a:solidFill>
                <a:latin typeface="Ubuntu Bold"/>
                <a:ea typeface="Ubuntu Bold"/>
                <a:cs typeface="Ubuntu Bold"/>
                <a:sym typeface="Ubuntu Bold"/>
              </a:rPr>
              <a:t>User</a:t>
            </a:r>
            <a:r>
              <a:rPr lang="en-US" sz="2879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rPr>
              <a:t>: uploadFile(), requestEncode(), requestDecode()</a:t>
            </a:r>
          </a:p>
          <a:p>
            <a:pPr algn="l" marL="621730" indent="-310865" lvl="1">
              <a:lnSpc>
                <a:spcPts val="3801"/>
              </a:lnSpc>
              <a:buFont typeface="Arial"/>
              <a:buChar char="•"/>
            </a:pPr>
            <a:r>
              <a:rPr lang="en-US" b="true" sz="2879" u="sng">
                <a:solidFill>
                  <a:srgbClr val="FFFFFF"/>
                </a:solidFill>
                <a:latin typeface="Ubuntu Bold"/>
                <a:ea typeface="Ubuntu Bold"/>
                <a:cs typeface="Ubuntu Bold"/>
                <a:sym typeface="Ubuntu Bold"/>
              </a:rPr>
              <a:t>EncryptionManager</a:t>
            </a:r>
            <a:r>
              <a:rPr lang="en-US" sz="2879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rPr>
              <a:t>: encryptMessage(), decryptMessage()</a:t>
            </a:r>
          </a:p>
          <a:p>
            <a:pPr algn="l" marL="621730" indent="-310865" lvl="1">
              <a:lnSpc>
                <a:spcPts val="3801"/>
              </a:lnSpc>
              <a:buFont typeface="Arial"/>
              <a:buChar char="•"/>
            </a:pPr>
            <a:r>
              <a:rPr lang="en-US" b="true" sz="2879" u="sng">
                <a:solidFill>
                  <a:srgbClr val="FFFFFF"/>
                </a:solidFill>
                <a:latin typeface="Ubuntu Bold"/>
                <a:ea typeface="Ubuntu Bold"/>
                <a:cs typeface="Ubuntu Bold"/>
                <a:sym typeface="Ubuntu Bold"/>
              </a:rPr>
              <a:t>StegoEngine</a:t>
            </a:r>
            <a:r>
              <a:rPr lang="en-US" sz="2879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rPr>
              <a:t>: embedMessage(), extractMessage()</a:t>
            </a:r>
          </a:p>
          <a:p>
            <a:pPr algn="l">
              <a:lnSpc>
                <a:spcPts val="3801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2363767"/>
            <a:ext cx="3737760" cy="489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1730" indent="-310865" lvl="1">
              <a:lnSpc>
                <a:spcPts val="3801"/>
              </a:lnSpc>
              <a:buFont typeface="Arial"/>
              <a:buChar char="•"/>
            </a:pPr>
            <a:r>
              <a:rPr lang="en-US" b="true" sz="2879" u="sng">
                <a:solidFill>
                  <a:srgbClr val="FFFFFF"/>
                </a:solidFill>
                <a:latin typeface="Ubuntu Bold"/>
                <a:ea typeface="Ubuntu Bold"/>
                <a:cs typeface="Ubuntu Bold"/>
                <a:sym typeface="Ubuntu Bold"/>
              </a:rPr>
              <a:t>Key Methods: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16038" y="0"/>
            <a:ext cx="16933682" cy="10287000"/>
            <a:chOff x="0" y="0"/>
            <a:chExt cx="752608" cy="457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52608" cy="457200"/>
            </a:xfrm>
            <a:custGeom>
              <a:avLst/>
              <a:gdLst/>
              <a:ahLst/>
              <a:cxnLst/>
              <a:rect r="r" b="b" t="t" l="l"/>
              <a:pathLst>
                <a:path h="457200" w="752608">
                  <a:moveTo>
                    <a:pt x="45719" y="0"/>
                  </a:moveTo>
                  <a:lnTo>
                    <a:pt x="706889" y="0"/>
                  </a:lnTo>
                  <a:cubicBezTo>
                    <a:pt x="732139" y="0"/>
                    <a:pt x="752608" y="20469"/>
                    <a:pt x="752608" y="45719"/>
                  </a:cubicBezTo>
                  <a:lnTo>
                    <a:pt x="752608" y="411481"/>
                  </a:lnTo>
                  <a:cubicBezTo>
                    <a:pt x="752608" y="436731"/>
                    <a:pt x="732139" y="457200"/>
                    <a:pt x="706889" y="457200"/>
                  </a:cubicBezTo>
                  <a:lnTo>
                    <a:pt x="45719" y="457200"/>
                  </a:lnTo>
                  <a:cubicBezTo>
                    <a:pt x="20469" y="457200"/>
                    <a:pt x="0" y="436731"/>
                    <a:pt x="0" y="411481"/>
                  </a:cubicBezTo>
                  <a:lnTo>
                    <a:pt x="0" y="45719"/>
                  </a:lnTo>
                  <a:cubicBezTo>
                    <a:pt x="0" y="20469"/>
                    <a:pt x="20469" y="0"/>
                    <a:pt x="4571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752608" cy="495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410209" indent="-205105" lvl="1">
                <a:lnSpc>
                  <a:spcPts val="2659"/>
                </a:lnSpc>
                <a:buFont typeface="Arial"/>
                <a:buChar char="•"/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2726978" y="3083590"/>
            <a:ext cx="12597516" cy="6941771"/>
          </a:xfrm>
          <a:custGeom>
            <a:avLst/>
            <a:gdLst/>
            <a:ahLst/>
            <a:cxnLst/>
            <a:rect r="r" b="b" t="t" l="l"/>
            <a:pathLst>
              <a:path h="6941771" w="12597516">
                <a:moveTo>
                  <a:pt x="0" y="0"/>
                </a:moveTo>
                <a:lnTo>
                  <a:pt x="12597516" y="0"/>
                </a:lnTo>
                <a:lnTo>
                  <a:pt x="12597516" y="6941770"/>
                </a:lnTo>
                <a:lnTo>
                  <a:pt x="0" y="69417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229098" y="473771"/>
            <a:ext cx="10504259" cy="4827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4"/>
              </a:lnSpc>
            </a:pPr>
            <a:r>
              <a:rPr lang="en-US" b="true" sz="4100" u="sng">
                <a:solidFill>
                  <a:srgbClr val="FFFF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SEQUENCE DIAGRAM – ENCODING FLOW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29098" y="952500"/>
            <a:ext cx="15707561" cy="26365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32" indent="-302266" lvl="1">
              <a:lnSpc>
                <a:spcPts val="4200"/>
              </a:lnSpc>
              <a:buAutoNum type="arabicPeriod" startAt="1"/>
            </a:pPr>
            <a:r>
              <a:rPr lang="en-US" b="true" sz="2800">
                <a:solidFill>
                  <a:srgbClr val="FFFF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User uploads file + me</a:t>
            </a:r>
            <a:r>
              <a:rPr lang="en-US" b="true" sz="2800">
                <a:solidFill>
                  <a:srgbClr val="FFFF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ssage + password</a:t>
            </a:r>
          </a:p>
          <a:p>
            <a:pPr algn="l" marL="604532" indent="-302266" lvl="1">
              <a:lnSpc>
                <a:spcPts val="4200"/>
              </a:lnSpc>
              <a:buAutoNum type="arabicPeriod" startAt="1"/>
            </a:pPr>
            <a:r>
              <a:rPr lang="en-US" b="true" sz="2800">
                <a:solidFill>
                  <a:srgbClr val="FFFF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Flask server calls EncryptionManager (AES-256 + PBKDF2)</a:t>
            </a:r>
          </a:p>
          <a:p>
            <a:pPr algn="l" marL="604532" indent="-302266" lvl="1">
              <a:lnSpc>
                <a:spcPts val="4200"/>
              </a:lnSpc>
              <a:buAutoNum type="arabicPeriod" startAt="1"/>
            </a:pPr>
            <a:r>
              <a:rPr lang="en-US" b="true" sz="2800">
                <a:solidFill>
                  <a:srgbClr val="FFFF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Ciphertext sent to StegoEngine → embedded in media</a:t>
            </a:r>
          </a:p>
          <a:p>
            <a:pPr algn="l" marL="604532" indent="-302266" lvl="1">
              <a:lnSpc>
                <a:spcPts val="4200"/>
              </a:lnSpc>
              <a:buAutoNum type="arabicPeriod" startAt="1"/>
            </a:pPr>
            <a:r>
              <a:rPr lang="en-US" b="true" sz="2800">
                <a:solidFill>
                  <a:srgbClr val="FFFF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Encoded file returned to user</a:t>
            </a:r>
          </a:p>
          <a:p>
            <a:pPr algn="l">
              <a:lnSpc>
                <a:spcPts val="4200"/>
              </a:lnSpc>
            </a:pP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34227" y="0"/>
            <a:ext cx="16933682" cy="10287000"/>
            <a:chOff x="0" y="0"/>
            <a:chExt cx="752608" cy="457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52608" cy="457200"/>
            </a:xfrm>
            <a:custGeom>
              <a:avLst/>
              <a:gdLst/>
              <a:ahLst/>
              <a:cxnLst/>
              <a:rect r="r" b="b" t="t" l="l"/>
              <a:pathLst>
                <a:path h="457200" w="752608">
                  <a:moveTo>
                    <a:pt x="45719" y="0"/>
                  </a:moveTo>
                  <a:lnTo>
                    <a:pt x="706889" y="0"/>
                  </a:lnTo>
                  <a:cubicBezTo>
                    <a:pt x="732139" y="0"/>
                    <a:pt x="752608" y="20469"/>
                    <a:pt x="752608" y="45719"/>
                  </a:cubicBezTo>
                  <a:lnTo>
                    <a:pt x="752608" y="411481"/>
                  </a:lnTo>
                  <a:cubicBezTo>
                    <a:pt x="752608" y="436731"/>
                    <a:pt x="732139" y="457200"/>
                    <a:pt x="706889" y="457200"/>
                  </a:cubicBezTo>
                  <a:lnTo>
                    <a:pt x="45719" y="457200"/>
                  </a:lnTo>
                  <a:cubicBezTo>
                    <a:pt x="20469" y="457200"/>
                    <a:pt x="0" y="436731"/>
                    <a:pt x="0" y="411481"/>
                  </a:cubicBezTo>
                  <a:lnTo>
                    <a:pt x="0" y="45719"/>
                  </a:lnTo>
                  <a:cubicBezTo>
                    <a:pt x="0" y="20469"/>
                    <a:pt x="20469" y="0"/>
                    <a:pt x="4571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752608" cy="495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410209" indent="-205105" lvl="1">
                <a:lnSpc>
                  <a:spcPts val="2659"/>
                </a:lnSpc>
                <a:buFont typeface="Arial"/>
                <a:buChar char="•"/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8182440" y="1028700"/>
            <a:ext cx="7395433" cy="8922564"/>
          </a:xfrm>
          <a:custGeom>
            <a:avLst/>
            <a:gdLst/>
            <a:ahLst/>
            <a:cxnLst/>
            <a:rect r="r" b="b" t="t" l="l"/>
            <a:pathLst>
              <a:path h="8922564" w="7395433">
                <a:moveTo>
                  <a:pt x="0" y="0"/>
                </a:moveTo>
                <a:lnTo>
                  <a:pt x="7395432" y="0"/>
                </a:lnTo>
                <a:lnTo>
                  <a:pt x="7395432" y="8922564"/>
                </a:lnTo>
                <a:lnTo>
                  <a:pt x="0" y="892256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229098" y="473771"/>
            <a:ext cx="10504259" cy="4827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4"/>
              </a:lnSpc>
            </a:pPr>
            <a:r>
              <a:rPr lang="en-US" b="true" sz="4100" u="sng">
                <a:solidFill>
                  <a:srgbClr val="FFFF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ACTIVITY DIAGRAM – DECODING FLOW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29098" y="1625250"/>
            <a:ext cx="6634529" cy="37037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32" indent="-302266" lvl="1">
              <a:lnSpc>
                <a:spcPts val="4200"/>
              </a:lnSpc>
              <a:buAutoNum type="arabicPeriod" startAt="1"/>
            </a:pPr>
            <a:r>
              <a:rPr lang="en-US" b="true" sz="2800">
                <a:solidFill>
                  <a:srgbClr val="FFFF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Upload encoded file</a:t>
            </a:r>
          </a:p>
          <a:p>
            <a:pPr algn="l" marL="604532" indent="-302266" lvl="1">
              <a:lnSpc>
                <a:spcPts val="4200"/>
              </a:lnSpc>
              <a:buAutoNum type="arabicPeriod" startAt="1"/>
            </a:pPr>
            <a:r>
              <a:rPr lang="en-US" b="true" sz="2800">
                <a:solidFill>
                  <a:srgbClr val="FFFF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Ent</a:t>
            </a:r>
            <a:r>
              <a:rPr lang="en-US" b="true" sz="2800">
                <a:solidFill>
                  <a:srgbClr val="FFFF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er password</a:t>
            </a:r>
          </a:p>
          <a:p>
            <a:pPr algn="l" marL="604532" indent="-302266" lvl="1">
              <a:lnSpc>
                <a:spcPts val="4200"/>
              </a:lnSpc>
              <a:buAutoNum type="arabicPeriod" startAt="1"/>
            </a:pPr>
            <a:r>
              <a:rPr lang="en-US" b="true" sz="2800">
                <a:solidFill>
                  <a:srgbClr val="FFFF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Extr</a:t>
            </a:r>
            <a:r>
              <a:rPr lang="en-US" b="true" sz="2800">
                <a:solidFill>
                  <a:srgbClr val="FFFF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act ciphertext</a:t>
            </a:r>
          </a:p>
          <a:p>
            <a:pPr algn="l" marL="604532" indent="-302266" lvl="1">
              <a:lnSpc>
                <a:spcPts val="4200"/>
              </a:lnSpc>
              <a:buAutoNum type="arabicPeriod" startAt="1"/>
            </a:pPr>
            <a:r>
              <a:rPr lang="en-US" b="true" sz="2800">
                <a:solidFill>
                  <a:srgbClr val="FFFF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Decrypt using AES-256</a:t>
            </a:r>
          </a:p>
          <a:p>
            <a:pPr algn="l" marL="604532" indent="-302266" lvl="1">
              <a:lnSpc>
                <a:spcPts val="4200"/>
              </a:lnSpc>
              <a:buAutoNum type="arabicPeriod" startAt="1"/>
            </a:pPr>
            <a:r>
              <a:rPr lang="en-US" b="true" sz="2800">
                <a:solidFill>
                  <a:srgbClr val="FFFF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If password correct → show secret message else error</a:t>
            </a:r>
          </a:p>
          <a:p>
            <a:pPr algn="l">
              <a:lnSpc>
                <a:spcPts val="4200"/>
              </a:lnSpc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DAG1aRCAcBI</dc:identifier>
  <dcterms:modified xsi:type="dcterms:W3CDTF">2011-08-01T06:04:30Z</dcterms:modified>
  <cp:revision>1</cp:revision>
  <dc:title>PixelCrypt</dc:title>
</cp:coreProperties>
</file>