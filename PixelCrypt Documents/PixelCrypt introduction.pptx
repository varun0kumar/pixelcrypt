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8288000" cy="10287000"/>
  <p:notesSz cx="6858000" cy="9144000"/>
  <p:embeddedFontLst>
    <p:embeddedFont>
      <p:font typeface="TT Interphases Bold" charset="1" panose="02000803060000020004"/>
      <p:regular r:id="rId16"/>
    </p:embeddedFont>
    <p:embeddedFont>
      <p:font typeface="Inter" charset="1" panose="020B0502030000000004"/>
      <p:regular r:id="rId17"/>
    </p:embeddedFont>
    <p:embeddedFont>
      <p:font typeface="Ubuntu Bold" charset="1" panose="020B0804030602030204"/>
      <p:regular r:id="rId18"/>
    </p:embeddedFont>
    <p:embeddedFont>
      <p:font typeface="Ubuntu" charset="1" panose="020B0504030602030204"/>
      <p:regular r:id="rId19"/>
    </p:embeddedFont>
    <p:embeddedFont>
      <p:font typeface="Inter Bold" charset="1" panose="020B0802030000000004"/>
      <p:regular r:id="rId20"/>
    </p:embeddedFont>
    <p:embeddedFont>
      <p:font typeface="League Spartan" charset="1" panose="00000800000000000000"/>
      <p:regular r:id="rId21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fonts/font16.fntdata" Type="http://schemas.openxmlformats.org/officeDocument/2006/relationships/font"/><Relationship Id="rId17" Target="fonts/font17.fntdata" Type="http://schemas.openxmlformats.org/officeDocument/2006/relationships/font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20" Target="fonts/font20.fntdata" Type="http://schemas.openxmlformats.org/officeDocument/2006/relationships/font"/><Relationship Id="rId21" Target="fonts/font21.fntdata" Type="http://schemas.openxmlformats.org/officeDocument/2006/relationships/font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4.png" Type="http://schemas.openxmlformats.org/officeDocument/2006/relationships/image"/><Relationship Id="rId3" Target="../media/image5.sv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507386" y="633212"/>
            <a:ext cx="17299805" cy="9138736"/>
            <a:chOff x="0" y="0"/>
            <a:chExt cx="768880" cy="406166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68880" cy="406166"/>
            </a:xfrm>
            <a:custGeom>
              <a:avLst/>
              <a:gdLst/>
              <a:ahLst/>
              <a:cxnLst/>
              <a:rect r="r" b="b" t="t" l="l"/>
              <a:pathLst>
                <a:path h="406166" w="768880">
                  <a:moveTo>
                    <a:pt x="44751" y="0"/>
                  </a:moveTo>
                  <a:lnTo>
                    <a:pt x="724129" y="0"/>
                  </a:lnTo>
                  <a:cubicBezTo>
                    <a:pt x="735998" y="0"/>
                    <a:pt x="747380" y="4715"/>
                    <a:pt x="755773" y="13107"/>
                  </a:cubicBezTo>
                  <a:cubicBezTo>
                    <a:pt x="764165" y="21500"/>
                    <a:pt x="768880" y="32883"/>
                    <a:pt x="768880" y="44751"/>
                  </a:cubicBezTo>
                  <a:lnTo>
                    <a:pt x="768880" y="361415"/>
                  </a:lnTo>
                  <a:cubicBezTo>
                    <a:pt x="768880" y="386130"/>
                    <a:pt x="748844" y="406166"/>
                    <a:pt x="724129" y="406166"/>
                  </a:cubicBezTo>
                  <a:lnTo>
                    <a:pt x="44751" y="406166"/>
                  </a:lnTo>
                  <a:cubicBezTo>
                    <a:pt x="32883" y="406166"/>
                    <a:pt x="21500" y="401451"/>
                    <a:pt x="13107" y="393059"/>
                  </a:cubicBezTo>
                  <a:cubicBezTo>
                    <a:pt x="4715" y="384666"/>
                    <a:pt x="0" y="373283"/>
                    <a:pt x="0" y="361415"/>
                  </a:cubicBezTo>
                  <a:lnTo>
                    <a:pt x="0" y="44751"/>
                  </a:lnTo>
                  <a:cubicBezTo>
                    <a:pt x="0" y="32883"/>
                    <a:pt x="4715" y="21500"/>
                    <a:pt x="13107" y="13107"/>
                  </a:cubicBezTo>
                  <a:cubicBezTo>
                    <a:pt x="21500" y="4715"/>
                    <a:pt x="32883" y="0"/>
                    <a:pt x="44751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68880" cy="44426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7057580"/>
            <a:ext cx="16230600" cy="2200720"/>
            <a:chOff x="0" y="0"/>
            <a:chExt cx="721360" cy="9781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360" cy="97810"/>
            </a:xfrm>
            <a:custGeom>
              <a:avLst/>
              <a:gdLst/>
              <a:ahLst/>
              <a:cxnLst/>
              <a:rect r="r" b="b" t="t" l="l"/>
              <a:pathLst>
                <a:path h="9781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50110"/>
                  </a:lnTo>
                  <a:cubicBezTo>
                    <a:pt x="721360" y="62761"/>
                    <a:pt x="716335" y="74893"/>
                    <a:pt x="707389" y="83839"/>
                  </a:cubicBezTo>
                  <a:cubicBezTo>
                    <a:pt x="698444" y="92784"/>
                    <a:pt x="686311" y="97810"/>
                    <a:pt x="673660" y="97810"/>
                  </a:cubicBezTo>
                  <a:lnTo>
                    <a:pt x="47700" y="97810"/>
                  </a:lnTo>
                  <a:cubicBezTo>
                    <a:pt x="35049" y="97810"/>
                    <a:pt x="22916" y="92784"/>
                    <a:pt x="13971" y="83839"/>
                  </a:cubicBezTo>
                  <a:cubicBezTo>
                    <a:pt x="5025" y="74893"/>
                    <a:pt x="0" y="62761"/>
                    <a:pt x="0" y="5011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1360" cy="13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8" id="8"/>
          <p:cNvSpPr/>
          <p:nvPr/>
        </p:nvSpPr>
        <p:spPr>
          <a:xfrm flipH="false" flipV="false" rot="0">
            <a:off x="10341727" y="1999543"/>
            <a:ext cx="6917573" cy="4254960"/>
          </a:xfrm>
          <a:custGeom>
            <a:avLst/>
            <a:gdLst/>
            <a:ahLst/>
            <a:cxnLst/>
            <a:rect r="r" b="b" t="t" l="l"/>
            <a:pathLst>
              <a:path h="4254960" w="6917573">
                <a:moveTo>
                  <a:pt x="0" y="0"/>
                </a:moveTo>
                <a:lnTo>
                  <a:pt x="6917573" y="0"/>
                </a:lnTo>
                <a:lnTo>
                  <a:pt x="6917573" y="4254959"/>
                </a:lnTo>
                <a:lnTo>
                  <a:pt x="0" y="4254959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16159" t="-55756" r="-15740" b="-58682"/>
            </a:stretch>
          </a:blipFill>
        </p:spPr>
      </p:sp>
      <p:sp>
        <p:nvSpPr>
          <p:cNvPr name="TextBox 9" id="9"/>
          <p:cNvSpPr txBox="true"/>
          <p:nvPr/>
        </p:nvSpPr>
        <p:spPr>
          <a:xfrm rot="0">
            <a:off x="849818" y="3024668"/>
            <a:ext cx="9491909" cy="137212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9809"/>
              </a:lnSpc>
            </a:pPr>
            <a:r>
              <a:rPr lang="en-US" b="true" sz="11678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PIXELCRYPT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3516593" y="4652644"/>
            <a:ext cx="6387293" cy="4908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Securing Data by Making It Invisible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3526158" y="7631525"/>
            <a:ext cx="6387293" cy="9861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19"/>
              </a:lnSpc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By Varun Kumar</a:t>
            </a:r>
          </a:p>
          <a:p>
            <a:pPr algn="l">
              <a:lnSpc>
                <a:spcPts val="3919"/>
              </a:lnSpc>
              <a:spcBef>
                <a:spcPct val="0"/>
              </a:spcBef>
            </a:pPr>
            <a:r>
              <a:rPr lang="en-US" sz="2799">
                <a:solidFill>
                  <a:srgbClr val="FFFFFF"/>
                </a:solidFill>
                <a:latin typeface="Inter"/>
                <a:ea typeface="Inter"/>
                <a:cs typeface="Inter"/>
                <a:sym typeface="Inter"/>
              </a:rPr>
              <a:t>USN : 1BI24MC157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0"/>
            <a:ext cx="16230600" cy="10287000"/>
            <a:chOff x="0" y="0"/>
            <a:chExt cx="721360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360" cy="457200"/>
            </a:xfrm>
            <a:custGeom>
              <a:avLst/>
              <a:gdLst/>
              <a:ahLst/>
              <a:cxnLst/>
              <a:rect r="r" b="b" t="t" l="l"/>
              <a:pathLst>
                <a:path h="45720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409500"/>
                  </a:lnTo>
                  <a:cubicBezTo>
                    <a:pt x="721360" y="422151"/>
                    <a:pt x="716335" y="434284"/>
                    <a:pt x="707389" y="443229"/>
                  </a:cubicBezTo>
                  <a:cubicBezTo>
                    <a:pt x="698444" y="452175"/>
                    <a:pt x="686311" y="457200"/>
                    <a:pt x="673660" y="457200"/>
                  </a:cubicBezTo>
                  <a:lnTo>
                    <a:pt x="47700" y="457200"/>
                  </a:lnTo>
                  <a:cubicBezTo>
                    <a:pt x="35049" y="457200"/>
                    <a:pt x="22916" y="452175"/>
                    <a:pt x="13971" y="443229"/>
                  </a:cubicBezTo>
                  <a:cubicBezTo>
                    <a:pt x="5025" y="434284"/>
                    <a:pt x="0" y="422151"/>
                    <a:pt x="0" y="40950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1360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496930" y="1028700"/>
            <a:ext cx="7304734" cy="8229600"/>
            <a:chOff x="0" y="0"/>
            <a:chExt cx="324655" cy="365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655" cy="365760"/>
            </a:xfrm>
            <a:custGeom>
              <a:avLst/>
              <a:gdLst/>
              <a:ahLst/>
              <a:cxnLst/>
              <a:rect r="r" b="b" t="t" l="l"/>
              <a:pathLst>
                <a:path h="365760" w="324655">
                  <a:moveTo>
                    <a:pt x="105985" y="0"/>
                  </a:moveTo>
                  <a:lnTo>
                    <a:pt x="218670" y="0"/>
                  </a:lnTo>
                  <a:cubicBezTo>
                    <a:pt x="246779" y="0"/>
                    <a:pt x="273737" y="11166"/>
                    <a:pt x="293613" y="31042"/>
                  </a:cubicBezTo>
                  <a:cubicBezTo>
                    <a:pt x="313489" y="50918"/>
                    <a:pt x="324655" y="77876"/>
                    <a:pt x="324655" y="105985"/>
                  </a:cubicBezTo>
                  <a:lnTo>
                    <a:pt x="324655" y="259775"/>
                  </a:lnTo>
                  <a:cubicBezTo>
                    <a:pt x="324655" y="287884"/>
                    <a:pt x="313489" y="314842"/>
                    <a:pt x="293613" y="334718"/>
                  </a:cubicBezTo>
                  <a:cubicBezTo>
                    <a:pt x="273737" y="354594"/>
                    <a:pt x="246779" y="365760"/>
                    <a:pt x="218670" y="365760"/>
                  </a:cubicBezTo>
                  <a:lnTo>
                    <a:pt x="105985" y="365760"/>
                  </a:lnTo>
                  <a:cubicBezTo>
                    <a:pt x="47451" y="365760"/>
                    <a:pt x="0" y="318309"/>
                    <a:pt x="0" y="259775"/>
                  </a:cubicBezTo>
                  <a:lnTo>
                    <a:pt x="0" y="105985"/>
                  </a:lnTo>
                  <a:cubicBezTo>
                    <a:pt x="0" y="77876"/>
                    <a:pt x="11166" y="50918"/>
                    <a:pt x="31042" y="31042"/>
                  </a:cubicBezTo>
                  <a:cubicBezTo>
                    <a:pt x="50918" y="11166"/>
                    <a:pt x="77876" y="0"/>
                    <a:pt x="105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4655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605191" y="1266825"/>
            <a:ext cx="7538809" cy="22467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54"/>
              </a:lnSpc>
            </a:pPr>
            <a:r>
              <a:rPr lang="en-US" sz="685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WHY STANDARD ENCRYPTION ISN'T ENOUGH.?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225870" y="4003675"/>
            <a:ext cx="7918130" cy="412558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555991" indent="-277995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When you encrypt a file, you're essentially putting it in a digital vault. While the content is secure, the vault itself is obvious. An encrypted file screams, "I contain valuable, secret information!".</a:t>
            </a:r>
          </a:p>
          <a:p>
            <a:pPr algn="l" marL="555991" indent="-277995" lvl="1">
              <a:lnSpc>
                <a:spcPts val="3605"/>
              </a:lnSpc>
              <a:buFont typeface="Arial"/>
              <a:buChar char="•"/>
            </a:pPr>
            <a:r>
              <a:rPr lang="en-US" b="true" sz="2575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This attracts unwanted attention from anyone monitoring your communications. The encrypted file itself becomes a target for analysis, theft, or demands for decryption.</a:t>
            </a:r>
          </a:p>
        </p:txBody>
      </p:sp>
      <p:sp>
        <p:nvSpPr>
          <p:cNvPr name="Freeform 10" id="10"/>
          <p:cNvSpPr/>
          <p:nvPr/>
        </p:nvSpPr>
        <p:spPr>
          <a:xfrm flipH="false" flipV="false" rot="0">
            <a:off x="9966024" y="2227622"/>
            <a:ext cx="6366545" cy="5831755"/>
          </a:xfrm>
          <a:custGeom>
            <a:avLst/>
            <a:gdLst/>
            <a:ahLst/>
            <a:cxnLst/>
            <a:rect r="r" b="b" t="t" l="l"/>
            <a:pathLst>
              <a:path h="5831755" w="6366545">
                <a:moveTo>
                  <a:pt x="0" y="0"/>
                </a:moveTo>
                <a:lnTo>
                  <a:pt x="6366545" y="0"/>
                </a:lnTo>
                <a:lnTo>
                  <a:pt x="6366545" y="5831756"/>
                </a:lnTo>
                <a:lnTo>
                  <a:pt x="0" y="583175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712526" y="0"/>
            <a:ext cx="16889206" cy="10287000"/>
            <a:chOff x="0" y="0"/>
            <a:chExt cx="750631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0631" cy="457200"/>
            </a:xfrm>
            <a:custGeom>
              <a:avLst/>
              <a:gdLst/>
              <a:ahLst/>
              <a:cxnLst/>
              <a:rect r="r" b="b" t="t" l="l"/>
              <a:pathLst>
                <a:path h="457200" w="750631">
                  <a:moveTo>
                    <a:pt x="45839" y="0"/>
                  </a:moveTo>
                  <a:lnTo>
                    <a:pt x="704792" y="0"/>
                  </a:lnTo>
                  <a:cubicBezTo>
                    <a:pt x="716949" y="0"/>
                    <a:pt x="728609" y="4830"/>
                    <a:pt x="737205" y="13426"/>
                  </a:cubicBezTo>
                  <a:cubicBezTo>
                    <a:pt x="745802" y="22023"/>
                    <a:pt x="750631" y="33682"/>
                    <a:pt x="750631" y="45839"/>
                  </a:cubicBezTo>
                  <a:lnTo>
                    <a:pt x="750631" y="411361"/>
                  </a:lnTo>
                  <a:cubicBezTo>
                    <a:pt x="750631" y="423518"/>
                    <a:pt x="745802" y="435177"/>
                    <a:pt x="737205" y="443774"/>
                  </a:cubicBezTo>
                  <a:cubicBezTo>
                    <a:pt x="728609" y="452370"/>
                    <a:pt x="716949" y="457200"/>
                    <a:pt x="704792" y="457200"/>
                  </a:cubicBezTo>
                  <a:lnTo>
                    <a:pt x="45839" y="457200"/>
                  </a:lnTo>
                  <a:cubicBezTo>
                    <a:pt x="33682" y="457200"/>
                    <a:pt x="22023" y="452370"/>
                    <a:pt x="13426" y="443774"/>
                  </a:cubicBezTo>
                  <a:cubicBezTo>
                    <a:pt x="4830" y="435177"/>
                    <a:pt x="0" y="423518"/>
                    <a:pt x="0" y="411361"/>
                  </a:cubicBezTo>
                  <a:lnTo>
                    <a:pt x="0" y="45839"/>
                  </a:lnTo>
                  <a:cubicBezTo>
                    <a:pt x="0" y="33682"/>
                    <a:pt x="4830" y="22023"/>
                    <a:pt x="13426" y="13426"/>
                  </a:cubicBezTo>
                  <a:cubicBezTo>
                    <a:pt x="22023" y="4830"/>
                    <a:pt x="33682" y="0"/>
                    <a:pt x="4583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0631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712526" y="1541758"/>
            <a:ext cx="7586667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LITERATURE SURVEY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390789" y="2775585"/>
            <a:ext cx="15061094" cy="46501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19"/>
              </a:lnSpc>
              <a:spcBef>
                <a:spcPct val="0"/>
              </a:spcBef>
            </a:pPr>
            <a:r>
              <a:rPr lang="en-US" sz="32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Current steganography tools force users to choose between powerful but complex command-line utilities and convenient online tools that compromise privacy. This effectively locks secure data hiding away from everyday users, leaving a need for a tool that is both safe and simple. PixelCrypt bridges this divide by integrating strong AES encryption with clever LSB (Least Significant Bit) data hiding into an intuitive interface. It is a modern, offline application that finally makes truly secure and covert communication accessible to everyone.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309593" y="0"/>
            <a:ext cx="17600327" cy="10287000"/>
            <a:chOff x="0" y="0"/>
            <a:chExt cx="782237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82237" cy="457200"/>
            </a:xfrm>
            <a:custGeom>
              <a:avLst/>
              <a:gdLst/>
              <a:ahLst/>
              <a:cxnLst/>
              <a:rect r="r" b="b" t="t" l="l"/>
              <a:pathLst>
                <a:path h="457200" w="782237">
                  <a:moveTo>
                    <a:pt x="43987" y="0"/>
                  </a:moveTo>
                  <a:lnTo>
                    <a:pt x="738249" y="0"/>
                  </a:lnTo>
                  <a:cubicBezTo>
                    <a:pt x="762543" y="0"/>
                    <a:pt x="782237" y="19694"/>
                    <a:pt x="782237" y="43987"/>
                  </a:cubicBezTo>
                  <a:lnTo>
                    <a:pt x="782237" y="413213"/>
                  </a:lnTo>
                  <a:cubicBezTo>
                    <a:pt x="782237" y="437506"/>
                    <a:pt x="762543" y="457200"/>
                    <a:pt x="738249" y="457200"/>
                  </a:cubicBezTo>
                  <a:lnTo>
                    <a:pt x="43987" y="457200"/>
                  </a:lnTo>
                  <a:cubicBezTo>
                    <a:pt x="19694" y="457200"/>
                    <a:pt x="0" y="437506"/>
                    <a:pt x="0" y="413213"/>
                  </a:cubicBezTo>
                  <a:lnTo>
                    <a:pt x="0" y="43987"/>
                  </a:lnTo>
                  <a:cubicBezTo>
                    <a:pt x="0" y="19694"/>
                    <a:pt x="19694" y="0"/>
                    <a:pt x="43987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82237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1028700" y="2608311"/>
            <a:ext cx="16230600" cy="5713893"/>
            <a:chOff x="0" y="0"/>
            <a:chExt cx="721360" cy="253951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721360" cy="253951"/>
            </a:xfrm>
            <a:custGeom>
              <a:avLst/>
              <a:gdLst/>
              <a:ahLst/>
              <a:cxnLst/>
              <a:rect r="r" b="b" t="t" l="l"/>
              <a:pathLst>
                <a:path h="253951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206251"/>
                  </a:lnTo>
                  <a:cubicBezTo>
                    <a:pt x="721360" y="218902"/>
                    <a:pt x="716335" y="231035"/>
                    <a:pt x="707389" y="239980"/>
                  </a:cubicBezTo>
                  <a:cubicBezTo>
                    <a:pt x="698444" y="248925"/>
                    <a:pt x="686311" y="253951"/>
                    <a:pt x="673660" y="253951"/>
                  </a:cubicBezTo>
                  <a:lnTo>
                    <a:pt x="47700" y="253951"/>
                  </a:lnTo>
                  <a:cubicBezTo>
                    <a:pt x="35049" y="253951"/>
                    <a:pt x="22916" y="248925"/>
                    <a:pt x="13971" y="239980"/>
                  </a:cubicBezTo>
                  <a:cubicBezTo>
                    <a:pt x="5025" y="231035"/>
                    <a:pt x="0" y="218902"/>
                    <a:pt x="0" y="206251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721360" cy="29205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8" id="8"/>
          <p:cNvSpPr txBox="true"/>
          <p:nvPr/>
        </p:nvSpPr>
        <p:spPr>
          <a:xfrm rot="0">
            <a:off x="1983202" y="767928"/>
            <a:ext cx="13957018" cy="152287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5754"/>
              </a:lnSpc>
            </a:pPr>
            <a:r>
              <a:rPr lang="en-US" b="true" sz="6850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COMBINING CRYPTOGRAPHY &amp; STEGANOGRAPHY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488172" y="4150732"/>
            <a:ext cx="15045259" cy="36001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31167" indent="-365584" lvl="1">
              <a:lnSpc>
                <a:spcPts val="4741"/>
              </a:lnSpc>
              <a:buAutoNum type="arabicPeriod" startAt="1"/>
            </a:pPr>
            <a:r>
              <a:rPr lang="en-US" b="true" sz="3386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Cryptography (The</a:t>
            </a:r>
            <a:r>
              <a:rPr lang="en-US" b="true" sz="3386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Lock): We first scramble your secret message using a powerful encryption algorithm (AES). This makes the data unreadable without the password.</a:t>
            </a:r>
          </a:p>
          <a:p>
            <a:pPr algn="just" marL="731167" indent="-365584" lvl="1">
              <a:lnSpc>
                <a:spcPts val="4741"/>
              </a:lnSpc>
              <a:buAutoNum type="arabicPeriod" startAt="1"/>
            </a:pPr>
            <a:r>
              <a:rPr lang="en-US" b="true" sz="3386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Steganography (The Camouflage): Then, we take that scrambled message and hide it inside a normal, everyday file—like an image, video, or audio track. This is the art of data hiding.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983202" y="3092967"/>
            <a:ext cx="14059377" cy="53086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339"/>
              </a:lnSpc>
              <a:spcBef>
                <a:spcPct val="0"/>
              </a:spcBef>
            </a:pPr>
            <a:r>
              <a:rPr lang="en-US" b="true" sz="3099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Our Solution : PixelCrypt uses a two-layer approach for ultimate security.</a:t>
            </a:r>
          </a:p>
        </p:txBody>
      </p:sp>
      <p:grpSp>
        <p:nvGrpSpPr>
          <p:cNvPr name="Group 11" id="11"/>
          <p:cNvGrpSpPr/>
          <p:nvPr/>
        </p:nvGrpSpPr>
        <p:grpSpPr>
          <a:xfrm rot="0">
            <a:off x="1028700" y="8636530"/>
            <a:ext cx="16230600" cy="1248978"/>
            <a:chOff x="0" y="0"/>
            <a:chExt cx="721360" cy="55510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721360" cy="55510"/>
            </a:xfrm>
            <a:custGeom>
              <a:avLst/>
              <a:gdLst/>
              <a:ahLst/>
              <a:cxnLst/>
              <a:rect r="r" b="b" t="t" l="l"/>
              <a:pathLst>
                <a:path h="55510" w="721360">
                  <a:moveTo>
                    <a:pt x="27755" y="0"/>
                  </a:moveTo>
                  <a:lnTo>
                    <a:pt x="693605" y="0"/>
                  </a:lnTo>
                  <a:cubicBezTo>
                    <a:pt x="700966" y="0"/>
                    <a:pt x="708026" y="2924"/>
                    <a:pt x="713231" y="8129"/>
                  </a:cubicBezTo>
                  <a:cubicBezTo>
                    <a:pt x="718436" y="13334"/>
                    <a:pt x="721360" y="20394"/>
                    <a:pt x="721360" y="27755"/>
                  </a:cubicBezTo>
                  <a:lnTo>
                    <a:pt x="721360" y="27755"/>
                  </a:lnTo>
                  <a:cubicBezTo>
                    <a:pt x="721360" y="35116"/>
                    <a:pt x="718436" y="42176"/>
                    <a:pt x="713231" y="47381"/>
                  </a:cubicBezTo>
                  <a:cubicBezTo>
                    <a:pt x="708026" y="52586"/>
                    <a:pt x="700966" y="55510"/>
                    <a:pt x="693605" y="55510"/>
                  </a:cubicBezTo>
                  <a:lnTo>
                    <a:pt x="27755" y="55510"/>
                  </a:lnTo>
                  <a:cubicBezTo>
                    <a:pt x="20394" y="55510"/>
                    <a:pt x="13334" y="52586"/>
                    <a:pt x="8129" y="47381"/>
                  </a:cubicBezTo>
                  <a:cubicBezTo>
                    <a:pt x="2924" y="42176"/>
                    <a:pt x="0" y="35116"/>
                    <a:pt x="0" y="27755"/>
                  </a:cubicBezTo>
                  <a:lnTo>
                    <a:pt x="0" y="27755"/>
                  </a:lnTo>
                  <a:cubicBezTo>
                    <a:pt x="0" y="20394"/>
                    <a:pt x="2924" y="13334"/>
                    <a:pt x="8129" y="8129"/>
                  </a:cubicBezTo>
                  <a:cubicBezTo>
                    <a:pt x="13334" y="2924"/>
                    <a:pt x="20394" y="0"/>
                    <a:pt x="2775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38100"/>
              <a:ext cx="721360" cy="936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4" id="14"/>
          <p:cNvSpPr txBox="true"/>
          <p:nvPr/>
        </p:nvSpPr>
        <p:spPr>
          <a:xfrm rot="0">
            <a:off x="2866159" y="8953996"/>
            <a:ext cx="12555681" cy="547371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479"/>
              </a:lnSpc>
              <a:spcBef>
                <a:spcPct val="0"/>
              </a:spcBef>
            </a:pPr>
            <a:r>
              <a:rPr lang="en-US" b="true" sz="3199" u="sng">
                <a:solidFill>
                  <a:srgbClr val="FFFFFF"/>
                </a:solidFill>
                <a:latin typeface="Inter Bold"/>
                <a:ea typeface="Inter Bold"/>
                <a:cs typeface="Inter Bold"/>
                <a:sym typeface="Inter Bold"/>
              </a:rPr>
              <a:t>To an outsider, there is no secret. There is only a regular file.</a:t>
            </a: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03213" y="0"/>
            <a:ext cx="17447330" cy="10287000"/>
            <a:chOff x="0" y="0"/>
            <a:chExt cx="775437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5437" cy="457200"/>
            </a:xfrm>
            <a:custGeom>
              <a:avLst/>
              <a:gdLst/>
              <a:ahLst/>
              <a:cxnLst/>
              <a:rect r="r" b="b" t="t" l="l"/>
              <a:pathLst>
                <a:path h="457200" w="775437">
                  <a:moveTo>
                    <a:pt x="44373" y="0"/>
                  </a:moveTo>
                  <a:lnTo>
                    <a:pt x="731064" y="0"/>
                  </a:lnTo>
                  <a:cubicBezTo>
                    <a:pt x="742832" y="0"/>
                    <a:pt x="754119" y="4675"/>
                    <a:pt x="762440" y="12997"/>
                  </a:cubicBezTo>
                  <a:cubicBezTo>
                    <a:pt x="770762" y="21318"/>
                    <a:pt x="775437" y="32605"/>
                    <a:pt x="775437" y="44373"/>
                  </a:cubicBezTo>
                  <a:lnTo>
                    <a:pt x="775437" y="412827"/>
                  </a:lnTo>
                  <a:cubicBezTo>
                    <a:pt x="775437" y="424595"/>
                    <a:pt x="770762" y="435882"/>
                    <a:pt x="762440" y="444203"/>
                  </a:cubicBezTo>
                  <a:cubicBezTo>
                    <a:pt x="754119" y="452525"/>
                    <a:pt x="742832" y="457200"/>
                    <a:pt x="731064" y="457200"/>
                  </a:cubicBezTo>
                  <a:lnTo>
                    <a:pt x="44373" y="457200"/>
                  </a:lnTo>
                  <a:cubicBezTo>
                    <a:pt x="32605" y="457200"/>
                    <a:pt x="21318" y="452525"/>
                    <a:pt x="12997" y="444203"/>
                  </a:cubicBezTo>
                  <a:cubicBezTo>
                    <a:pt x="4675" y="435882"/>
                    <a:pt x="0" y="424595"/>
                    <a:pt x="0" y="412827"/>
                  </a:cubicBezTo>
                  <a:lnTo>
                    <a:pt x="0" y="44373"/>
                  </a:lnTo>
                  <a:cubicBezTo>
                    <a:pt x="0" y="32605"/>
                    <a:pt x="4675" y="21318"/>
                    <a:pt x="12997" y="12997"/>
                  </a:cubicBezTo>
                  <a:cubicBezTo>
                    <a:pt x="21318" y="4675"/>
                    <a:pt x="32605" y="0"/>
                    <a:pt x="44373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5437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3533" y="1190625"/>
            <a:ext cx="13667585" cy="56008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990"/>
              </a:lnSpc>
            </a:pPr>
            <a:r>
              <a:rPr lang="en-US" sz="4750" b="true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THE WORKFLOW: A TWO-STEP PROCESS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640815" y="2163696"/>
            <a:ext cx="15006371" cy="77279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5599"/>
              </a:lnSpc>
            </a:pPr>
            <a:r>
              <a:rPr lang="en-US" sz="3999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1. Encoding (Hiding the Message)</a:t>
            </a:r>
          </a:p>
          <a:p>
            <a:pPr algn="just">
              <a:lnSpc>
                <a:spcPts val="5599"/>
              </a:lnSpc>
            </a:pP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A</a:t>
            </a: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 user provides their secret message and a password.</a:t>
            </a: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message is encrypted using the password.</a:t>
            </a: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encrypted data is then embedded into a "carrier" file (e.g., an image) using the Least Significant Bit (LSB) technique, which makes tiny, invisible changes to the file's data.</a:t>
            </a:r>
          </a:p>
          <a:p>
            <a:pPr algn="just" marL="863599" indent="-431800" lvl="1">
              <a:lnSpc>
                <a:spcPts val="5599"/>
              </a:lnSpc>
              <a:spcBef>
                <a:spcPct val="0"/>
              </a:spcBef>
              <a:buFont typeface="Arial"/>
              <a:buChar char="•"/>
            </a:pPr>
            <a:r>
              <a:rPr lang="en-US" sz="399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output is a normal-looking file that can be shared anywhere.</a:t>
            </a:r>
          </a:p>
          <a:p>
            <a:pPr algn="just">
              <a:lnSpc>
                <a:spcPts val="55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437457" y="0"/>
            <a:ext cx="17413087" cy="10287000"/>
            <a:chOff x="0" y="0"/>
            <a:chExt cx="773915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73915" cy="457200"/>
            </a:xfrm>
            <a:custGeom>
              <a:avLst/>
              <a:gdLst/>
              <a:ahLst/>
              <a:cxnLst/>
              <a:rect r="r" b="b" t="t" l="l"/>
              <a:pathLst>
                <a:path h="457200" w="773915">
                  <a:moveTo>
                    <a:pt x="44460" y="0"/>
                  </a:moveTo>
                  <a:lnTo>
                    <a:pt x="729455" y="0"/>
                  </a:lnTo>
                  <a:cubicBezTo>
                    <a:pt x="741246" y="0"/>
                    <a:pt x="752555" y="4684"/>
                    <a:pt x="760893" y="13022"/>
                  </a:cubicBezTo>
                  <a:cubicBezTo>
                    <a:pt x="769231" y="21360"/>
                    <a:pt x="773915" y="32669"/>
                    <a:pt x="773915" y="44460"/>
                  </a:cubicBezTo>
                  <a:lnTo>
                    <a:pt x="773915" y="412740"/>
                  </a:lnTo>
                  <a:cubicBezTo>
                    <a:pt x="773915" y="424531"/>
                    <a:pt x="769231" y="435840"/>
                    <a:pt x="760893" y="444178"/>
                  </a:cubicBezTo>
                  <a:cubicBezTo>
                    <a:pt x="752555" y="452516"/>
                    <a:pt x="741246" y="457200"/>
                    <a:pt x="729455" y="457200"/>
                  </a:cubicBezTo>
                  <a:lnTo>
                    <a:pt x="44460" y="457200"/>
                  </a:lnTo>
                  <a:cubicBezTo>
                    <a:pt x="32669" y="457200"/>
                    <a:pt x="21360" y="452516"/>
                    <a:pt x="13022" y="444178"/>
                  </a:cubicBezTo>
                  <a:cubicBezTo>
                    <a:pt x="4684" y="435840"/>
                    <a:pt x="0" y="424531"/>
                    <a:pt x="0" y="412740"/>
                  </a:cubicBezTo>
                  <a:lnTo>
                    <a:pt x="0" y="44460"/>
                  </a:lnTo>
                  <a:cubicBezTo>
                    <a:pt x="0" y="32669"/>
                    <a:pt x="4684" y="21360"/>
                    <a:pt x="13022" y="13022"/>
                  </a:cubicBezTo>
                  <a:cubicBezTo>
                    <a:pt x="21360" y="4684"/>
                    <a:pt x="32669" y="0"/>
                    <a:pt x="4446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73915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71002" y="1905251"/>
            <a:ext cx="14545997" cy="6381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6327"/>
              </a:lnSpc>
            </a:pPr>
            <a:r>
              <a:rPr lang="en-US" sz="4519" u="sng">
                <a:solidFill>
                  <a:srgbClr val="FFFFFF"/>
                </a:solidFill>
                <a:latin typeface="League Spartan"/>
                <a:ea typeface="League Spartan"/>
                <a:cs typeface="League Spartan"/>
                <a:sym typeface="League Spartan"/>
              </a:rPr>
              <a:t>2. Decoding (Revealing the Message)</a:t>
            </a:r>
          </a:p>
          <a:p>
            <a:pPr algn="just">
              <a:lnSpc>
                <a:spcPts val="6327"/>
              </a:lnSpc>
            </a:pP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recipient loads the carrier file into PixelCrypt.</a:t>
            </a: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They enter the correct password.</a:t>
            </a: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The tool extracts the hidden data from the file.</a:t>
            </a:r>
          </a:p>
          <a:p>
            <a:pPr algn="just" marL="975812" indent="-487906" lvl="1">
              <a:lnSpc>
                <a:spcPts val="6327"/>
              </a:lnSpc>
              <a:buFont typeface="Arial"/>
              <a:buChar char="•"/>
            </a:pPr>
            <a:r>
              <a:rPr lang="en-US" sz="4519">
                <a:solidFill>
                  <a:srgbClr val="FFFFFF"/>
                </a:solidFill>
                <a:latin typeface="Ubuntu"/>
                <a:ea typeface="Ubuntu"/>
                <a:cs typeface="Ubuntu"/>
                <a:sym typeface="Ubuntu"/>
              </a:rPr>
              <a:t>It then decrypts the data, revealing the original secret message.</a:t>
            </a:r>
          </a:p>
          <a:p>
            <a:pPr algn="just">
              <a:lnSpc>
                <a:spcPts val="6327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3382" y="1190625"/>
            <a:ext cx="111430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MAIN FEATURES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2586" y="1958820"/>
            <a:ext cx="15405501" cy="719955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Multi-Format Support : Go beyond images to hide data in other files like audio (.wav) and video (.mp4), making the tool far more versatile.</a:t>
            </a: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Capacity Calculator : Automatically analyse any file to instantly show the user the maximum amount of secret data it can hide without being detected.</a:t>
            </a: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Decoy Secrets : Implement "plausible deniability" with a fake password that reveals a harmless decoy message, protecting your true secret even if you're forced to talk.</a:t>
            </a: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Self Destruction </a:t>
            </a: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  : automatically all the hidden images along with the media will get deleted if the receiver not able to enter the correct password after three times.</a:t>
            </a:r>
          </a:p>
          <a:p>
            <a:pPr algn="just">
              <a:lnSpc>
                <a:spcPts val="4799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844317" y="945694"/>
            <a:ext cx="111430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APPLICATIONS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532586" y="1958820"/>
            <a:ext cx="15405501" cy="8399706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Journalism &amp; Activism: Bypassing surveillance and communicating safely in high-risk environments.</a:t>
            </a:r>
          </a:p>
          <a:p>
            <a:pPr algn="just">
              <a:lnSpc>
                <a:spcPts val="4799"/>
              </a:lnSpc>
            </a:pP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Intellectual Property Protection: Embedding invisible watermarks to prove ownership of digital art or securing corporate trade secrets.</a:t>
            </a:r>
          </a:p>
          <a:p>
            <a:pPr algn="just">
              <a:lnSpc>
                <a:spcPts val="4799"/>
              </a:lnSpc>
            </a:pP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An R&amp;D team needs to send a secret design or formula to another company.They want extra security so no one can steal or spy on their information while sharing it.</a:t>
            </a:r>
          </a:p>
          <a:p>
            <a:pPr algn="just">
              <a:lnSpc>
                <a:spcPts val="4799"/>
              </a:lnSpc>
            </a:pPr>
          </a:p>
          <a:p>
            <a:pPr algn="just" marL="740088" indent="-370044" lvl="1">
              <a:lnSpc>
                <a:spcPts val="4799"/>
              </a:lnSpc>
              <a:buFont typeface="Arial"/>
              <a:buChar char="•"/>
            </a:pPr>
            <a:r>
              <a:rPr lang="en-US" b="true" sz="3427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Personal Data Security: Creating hidden digital vaults for passwords, recovery keys, and private notes within personal photos stored in the cloud.</a:t>
            </a:r>
          </a:p>
          <a:p>
            <a:pPr algn="just">
              <a:lnSpc>
                <a:spcPts val="4799"/>
              </a:lnSpc>
            </a:pP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677159" y="0"/>
            <a:ext cx="16933682" cy="10287000"/>
            <a:chOff x="0" y="0"/>
            <a:chExt cx="752608" cy="45720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52608" cy="457200"/>
            </a:xfrm>
            <a:custGeom>
              <a:avLst/>
              <a:gdLst/>
              <a:ahLst/>
              <a:cxnLst/>
              <a:rect r="r" b="b" t="t" l="l"/>
              <a:pathLst>
                <a:path h="457200" w="752608">
                  <a:moveTo>
                    <a:pt x="45719" y="0"/>
                  </a:moveTo>
                  <a:lnTo>
                    <a:pt x="706889" y="0"/>
                  </a:lnTo>
                  <a:cubicBezTo>
                    <a:pt x="732139" y="0"/>
                    <a:pt x="752608" y="20469"/>
                    <a:pt x="752608" y="45719"/>
                  </a:cubicBezTo>
                  <a:lnTo>
                    <a:pt x="752608" y="411481"/>
                  </a:lnTo>
                  <a:cubicBezTo>
                    <a:pt x="752608" y="436731"/>
                    <a:pt x="732139" y="457200"/>
                    <a:pt x="706889" y="457200"/>
                  </a:cubicBezTo>
                  <a:lnTo>
                    <a:pt x="45719" y="457200"/>
                  </a:lnTo>
                  <a:cubicBezTo>
                    <a:pt x="20469" y="457200"/>
                    <a:pt x="0" y="436731"/>
                    <a:pt x="0" y="411481"/>
                  </a:cubicBezTo>
                  <a:lnTo>
                    <a:pt x="0" y="45719"/>
                  </a:lnTo>
                  <a:cubicBezTo>
                    <a:pt x="0" y="20469"/>
                    <a:pt x="20469" y="0"/>
                    <a:pt x="45719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52608" cy="49530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5" id="5"/>
          <p:cNvSpPr txBox="true"/>
          <p:nvPr/>
        </p:nvSpPr>
        <p:spPr>
          <a:xfrm rot="0">
            <a:off x="1933382" y="1190625"/>
            <a:ext cx="11143093" cy="6000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00"/>
              </a:lnSpc>
            </a:pPr>
            <a:r>
              <a:rPr lang="en-US" b="true" sz="5000" u="sng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TECHNOLOGY &amp; TOOLS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933382" y="2315083"/>
            <a:ext cx="14471095" cy="686193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4508"/>
              </a:lnSpc>
              <a:spcBef>
                <a:spcPct val="0"/>
              </a:spcBef>
            </a:pPr>
            <a:r>
              <a:rPr lang="en-US" b="true" sz="32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PixelCrypt is built using powerful and accessible open-s</a:t>
            </a:r>
            <a:r>
              <a:rPr lang="en-US" b="true" sz="32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ource technologies, making it a robust and practical tool.</a:t>
            </a:r>
          </a:p>
          <a:p>
            <a:pPr algn="just">
              <a:lnSpc>
                <a:spcPts val="4508"/>
              </a:lnSpc>
              <a:spcBef>
                <a:spcPct val="0"/>
              </a:spcBef>
            </a:pPr>
          </a:p>
          <a:p>
            <a:pPr algn="just" marL="695199" indent="-347600" lvl="1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Programming Language: Python, for its versatility and extensive libraries.</a:t>
            </a:r>
          </a:p>
          <a:p>
            <a:pPr algn="just" marL="695199" indent="-347600" lvl="1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Cryptography: PyCryptodome, a library providing strong, industry-standard AES (Advanced Encryption Standard) encryption.</a:t>
            </a:r>
          </a:p>
          <a:p>
            <a:pPr algn="just" marL="695199" indent="-347600" lvl="1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Steganography: Pillow (PIL Fork), a library for manipulating the pixels and binary data of images to implement the LSB algorithm.</a:t>
            </a:r>
          </a:p>
          <a:p>
            <a:pPr algn="just" marL="695199" indent="-347600" lvl="1">
              <a:lnSpc>
                <a:spcPts val="4508"/>
              </a:lnSpc>
              <a:spcBef>
                <a:spcPct val="0"/>
              </a:spcBef>
              <a:buFont typeface="Arial"/>
              <a:buChar char="•"/>
            </a:pPr>
            <a:r>
              <a:rPr lang="en-US" b="true" sz="3220">
                <a:solidFill>
                  <a:srgbClr val="FFFFFF"/>
                </a:solidFill>
                <a:latin typeface="Ubuntu Bold"/>
                <a:ea typeface="Ubuntu Bold"/>
                <a:cs typeface="Ubuntu Bold"/>
                <a:sym typeface="Ubuntu Bold"/>
              </a:rPr>
              <a:t>User Interface (UI): Tkinter or Streamlit, to create an intuitive and easy-to-use graphical interface for users.</a:t>
            </a:r>
          </a:p>
          <a:p>
            <a:pPr algn="just">
              <a:lnSpc>
                <a:spcPts val="4508"/>
              </a:lnSpc>
              <a:spcBef>
                <a:spcPct val="0"/>
              </a:spcBef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028700" y="1028700"/>
            <a:ext cx="16230600" cy="8229600"/>
            <a:chOff x="0" y="0"/>
            <a:chExt cx="721360" cy="365760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721360" cy="365760"/>
            </a:xfrm>
            <a:custGeom>
              <a:avLst/>
              <a:gdLst/>
              <a:ahLst/>
              <a:cxnLst/>
              <a:rect r="r" b="b" t="t" l="l"/>
              <a:pathLst>
                <a:path h="365760" w="721360">
                  <a:moveTo>
                    <a:pt x="47700" y="0"/>
                  </a:moveTo>
                  <a:lnTo>
                    <a:pt x="673660" y="0"/>
                  </a:lnTo>
                  <a:cubicBezTo>
                    <a:pt x="686311" y="0"/>
                    <a:pt x="698444" y="5025"/>
                    <a:pt x="707389" y="13971"/>
                  </a:cubicBezTo>
                  <a:cubicBezTo>
                    <a:pt x="716335" y="22916"/>
                    <a:pt x="721360" y="35049"/>
                    <a:pt x="721360" y="47700"/>
                  </a:cubicBezTo>
                  <a:lnTo>
                    <a:pt x="721360" y="318060"/>
                  </a:lnTo>
                  <a:cubicBezTo>
                    <a:pt x="721360" y="330711"/>
                    <a:pt x="716335" y="342844"/>
                    <a:pt x="707389" y="351789"/>
                  </a:cubicBezTo>
                  <a:cubicBezTo>
                    <a:pt x="698444" y="360735"/>
                    <a:pt x="686311" y="365760"/>
                    <a:pt x="673660" y="365760"/>
                  </a:cubicBezTo>
                  <a:lnTo>
                    <a:pt x="47700" y="365760"/>
                  </a:lnTo>
                  <a:cubicBezTo>
                    <a:pt x="35049" y="365760"/>
                    <a:pt x="22916" y="360735"/>
                    <a:pt x="13971" y="351789"/>
                  </a:cubicBezTo>
                  <a:cubicBezTo>
                    <a:pt x="5025" y="342844"/>
                    <a:pt x="0" y="330711"/>
                    <a:pt x="0" y="318060"/>
                  </a:cubicBezTo>
                  <a:lnTo>
                    <a:pt x="0" y="47700"/>
                  </a:lnTo>
                  <a:cubicBezTo>
                    <a:pt x="0" y="35049"/>
                    <a:pt x="5025" y="22916"/>
                    <a:pt x="13971" y="13971"/>
                  </a:cubicBezTo>
                  <a:cubicBezTo>
                    <a:pt x="22916" y="5025"/>
                    <a:pt x="35049" y="0"/>
                    <a:pt x="477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721360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5" id="5"/>
          <p:cNvGrpSpPr/>
          <p:nvPr/>
        </p:nvGrpSpPr>
        <p:grpSpPr>
          <a:xfrm rot="0">
            <a:off x="9954566" y="1028700"/>
            <a:ext cx="7304734" cy="8229600"/>
            <a:chOff x="0" y="0"/>
            <a:chExt cx="324655" cy="365760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324655" cy="365760"/>
            </a:xfrm>
            <a:custGeom>
              <a:avLst/>
              <a:gdLst/>
              <a:ahLst/>
              <a:cxnLst/>
              <a:rect r="r" b="b" t="t" l="l"/>
              <a:pathLst>
                <a:path h="365760" w="324655">
                  <a:moveTo>
                    <a:pt x="105985" y="0"/>
                  </a:moveTo>
                  <a:lnTo>
                    <a:pt x="218670" y="0"/>
                  </a:lnTo>
                  <a:cubicBezTo>
                    <a:pt x="246779" y="0"/>
                    <a:pt x="273737" y="11166"/>
                    <a:pt x="293613" y="31042"/>
                  </a:cubicBezTo>
                  <a:cubicBezTo>
                    <a:pt x="313489" y="50918"/>
                    <a:pt x="324655" y="77876"/>
                    <a:pt x="324655" y="105985"/>
                  </a:cubicBezTo>
                  <a:lnTo>
                    <a:pt x="324655" y="259775"/>
                  </a:lnTo>
                  <a:cubicBezTo>
                    <a:pt x="324655" y="287884"/>
                    <a:pt x="313489" y="314842"/>
                    <a:pt x="293613" y="334718"/>
                  </a:cubicBezTo>
                  <a:cubicBezTo>
                    <a:pt x="273737" y="354594"/>
                    <a:pt x="246779" y="365760"/>
                    <a:pt x="218670" y="365760"/>
                  </a:cubicBezTo>
                  <a:lnTo>
                    <a:pt x="105985" y="365760"/>
                  </a:lnTo>
                  <a:cubicBezTo>
                    <a:pt x="47451" y="365760"/>
                    <a:pt x="0" y="318309"/>
                    <a:pt x="0" y="259775"/>
                  </a:cubicBezTo>
                  <a:lnTo>
                    <a:pt x="0" y="105985"/>
                  </a:lnTo>
                  <a:cubicBezTo>
                    <a:pt x="0" y="77876"/>
                    <a:pt x="11166" y="50918"/>
                    <a:pt x="31042" y="31042"/>
                  </a:cubicBezTo>
                  <a:cubicBezTo>
                    <a:pt x="50918" y="11166"/>
                    <a:pt x="77876" y="0"/>
                    <a:pt x="10598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324655" cy="4038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1028700" y="7057580"/>
            <a:ext cx="11363078" cy="2200720"/>
            <a:chOff x="0" y="0"/>
            <a:chExt cx="505026" cy="97810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505026" cy="97810"/>
            </a:xfrm>
            <a:custGeom>
              <a:avLst/>
              <a:gdLst/>
              <a:ahLst/>
              <a:cxnLst/>
              <a:rect r="r" b="b" t="t" l="l"/>
              <a:pathLst>
                <a:path h="97810" w="505026">
                  <a:moveTo>
                    <a:pt x="48905" y="0"/>
                  </a:moveTo>
                  <a:lnTo>
                    <a:pt x="456121" y="0"/>
                  </a:lnTo>
                  <a:cubicBezTo>
                    <a:pt x="469091" y="0"/>
                    <a:pt x="481530" y="5152"/>
                    <a:pt x="490702" y="14324"/>
                  </a:cubicBezTo>
                  <a:cubicBezTo>
                    <a:pt x="499873" y="23495"/>
                    <a:pt x="505026" y="35934"/>
                    <a:pt x="505026" y="48905"/>
                  </a:cubicBezTo>
                  <a:lnTo>
                    <a:pt x="505026" y="48905"/>
                  </a:lnTo>
                  <a:cubicBezTo>
                    <a:pt x="505026" y="61875"/>
                    <a:pt x="499873" y="74314"/>
                    <a:pt x="490702" y="83486"/>
                  </a:cubicBezTo>
                  <a:cubicBezTo>
                    <a:pt x="481530" y="92657"/>
                    <a:pt x="469091" y="97810"/>
                    <a:pt x="456121" y="97810"/>
                  </a:cubicBezTo>
                  <a:lnTo>
                    <a:pt x="48905" y="97810"/>
                  </a:lnTo>
                  <a:cubicBezTo>
                    <a:pt x="35934" y="97810"/>
                    <a:pt x="23495" y="92657"/>
                    <a:pt x="14324" y="83486"/>
                  </a:cubicBezTo>
                  <a:cubicBezTo>
                    <a:pt x="5152" y="74314"/>
                    <a:pt x="0" y="61875"/>
                    <a:pt x="0" y="48905"/>
                  </a:cubicBezTo>
                  <a:lnTo>
                    <a:pt x="0" y="48905"/>
                  </a:lnTo>
                  <a:cubicBezTo>
                    <a:pt x="0" y="35934"/>
                    <a:pt x="5152" y="23495"/>
                    <a:pt x="14324" y="14324"/>
                  </a:cubicBezTo>
                  <a:cubicBezTo>
                    <a:pt x="23495" y="5152"/>
                    <a:pt x="35934" y="0"/>
                    <a:pt x="48905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rnd">
              <a:solidFill>
                <a:srgbClr val="FFFFFF"/>
              </a:solidFill>
              <a:prstDash val="solid"/>
              <a:round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505026" cy="135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2215373" y="2885751"/>
            <a:ext cx="6861952" cy="2917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10901"/>
              </a:lnSpc>
            </a:pPr>
            <a:r>
              <a:rPr lang="en-US" b="true" sz="1297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THANK</a:t>
            </a:r>
          </a:p>
          <a:p>
            <a:pPr algn="ctr">
              <a:lnSpc>
                <a:spcPts val="10901"/>
              </a:lnSpc>
            </a:pPr>
            <a:r>
              <a:rPr lang="en-US" b="true" sz="12977">
                <a:solidFill>
                  <a:srgbClr val="FFFFFF"/>
                </a:solidFill>
                <a:latin typeface="TT Interphases Bold"/>
                <a:ea typeface="TT Interphases Bold"/>
                <a:cs typeface="TT Interphases Bold"/>
                <a:sym typeface="TT Interphases Bold"/>
              </a:rPr>
              <a:t>YOU</a:t>
            </a: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10660490" y="1515789"/>
            <a:ext cx="6246918" cy="7255422"/>
          </a:xfrm>
          <a:custGeom>
            <a:avLst/>
            <a:gdLst/>
            <a:ahLst/>
            <a:cxnLst/>
            <a:rect r="r" b="b" t="t" l="l"/>
            <a:pathLst>
              <a:path h="7255422" w="6246918">
                <a:moveTo>
                  <a:pt x="0" y="0"/>
                </a:moveTo>
                <a:lnTo>
                  <a:pt x="6246918" y="0"/>
                </a:lnTo>
                <a:lnTo>
                  <a:pt x="6246918" y="7255422"/>
                </a:lnTo>
                <a:lnTo>
                  <a:pt x="0" y="7255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DAG1aRCAcBI</dc:identifier>
  <dcterms:modified xsi:type="dcterms:W3CDTF">2011-08-01T06:04:30Z</dcterms:modified>
  <cp:revision>1</cp:revision>
  <dc:title>PixelCrypt</dc:title>
</cp:coreProperties>
</file>